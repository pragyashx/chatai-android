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1" autoAdjust="0"/>
    <p:restoredTop sz="94610"/>
  </p:normalViewPr>
  <p:slideViewPr>
    <p:cSldViewPr snapToGrid="0" snapToObjects="1">
      <p:cViewPr varScale="1">
        <p:scale>
          <a:sx n="121" d="100"/>
          <a:sy n="121" d="100"/>
        </p:scale>
        <p:origin x="9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30429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Chiti Code as a mobile-first coding assistant. Emphasize that the app is designed for quick programming help, not general-purpose chat.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motivation before discussing implementation. The app addresses common student and developer pain points: debugging, algorithms, examples, and remembering prior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core actions: generate, explain, debug, and remember. Then point to the phone mockup: the response streams in, renders as Markdown, and supports the next question.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diagram to explain the complete request lifecycle. The repository sends the prompt plus recent context to the remote model, while Room stores the local conversation. Streaming chunks update the Compose UI through StateFlow.</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live sequence in this order. Keep the explanation short and let the app demonstrate the value. End by mentioning future improvements, especially secure settings, search, response controls, cloud sync, and test coverage.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101522"/>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522"/>
        </a:solidFill>
        <a:effectLst/>
      </p:bgPr>
    </p:bg>
    <p:spTree>
      <p:nvGrpSpPr>
        <p:cNvPr id="1" name=""/>
        <p:cNvGrpSpPr/>
        <p:nvPr/>
      </p:nvGrpSpPr>
      <p:grpSpPr>
        <a:xfrm>
          <a:off x="0" y="0"/>
          <a:ext cx="0" cy="0"/>
          <a:chOff x="0" y="0"/>
          <a:chExt cx="0" cy="0"/>
        </a:xfrm>
      </p:grpSpPr>
      <p:sp>
        <p:nvSpPr>
          <p:cNvPr id="2" name="Shape 0"/>
          <p:cNvSpPr/>
          <p:nvPr/>
        </p:nvSpPr>
        <p:spPr>
          <a:xfrm>
            <a:off x="8778240" y="-914400"/>
            <a:ext cx="4754880" cy="4754880"/>
          </a:xfrm>
          <a:prstGeom prst="ellipse">
            <a:avLst/>
          </a:prstGeom>
          <a:solidFill>
            <a:srgbClr val="6D5DFB">
              <a:alpha val="12000"/>
            </a:srgbClr>
          </a:solidFill>
          <a:ln w="12700">
            <a:solidFill>
              <a:srgbClr val="6D5DFB">
                <a:alpha val="0"/>
              </a:srgbClr>
            </a:solidFill>
            <a:prstDash val="solid"/>
          </a:ln>
        </p:spPr>
      </p:sp>
      <p:sp>
        <p:nvSpPr>
          <p:cNvPr id="3" name="Shape 1"/>
          <p:cNvSpPr/>
          <p:nvPr/>
        </p:nvSpPr>
        <p:spPr>
          <a:xfrm>
            <a:off x="9646920" y="4617720"/>
            <a:ext cx="3566160" cy="3566160"/>
          </a:xfrm>
          <a:prstGeom prst="ellipse">
            <a:avLst/>
          </a:prstGeom>
          <a:solidFill>
            <a:srgbClr val="0F766E">
              <a:alpha val="9000"/>
            </a:srgbClr>
          </a:solidFill>
          <a:ln w="12700">
            <a:solidFill>
              <a:srgbClr val="0F766E">
                <a:alpha val="0"/>
              </a:srgbClr>
            </a:solidFill>
            <a:prstDash val="solid"/>
          </a:ln>
        </p:spPr>
      </p:sp>
      <p:sp>
        <p:nvSpPr>
          <p:cNvPr id="4" name="Shape 2"/>
          <p:cNvSpPr/>
          <p:nvPr/>
        </p:nvSpPr>
        <p:spPr>
          <a:xfrm>
            <a:off x="621792" y="658368"/>
            <a:ext cx="1572768" cy="256032"/>
          </a:xfrm>
          <a:prstGeom prst="roundRect">
            <a:avLst>
              <a:gd name="adj" fmla="val 42857"/>
            </a:avLst>
          </a:prstGeom>
          <a:solidFill>
            <a:srgbClr val="202B42"/>
          </a:solidFill>
          <a:ln w="12700">
            <a:solidFill>
              <a:srgbClr val="202B42">
                <a:alpha val="0"/>
              </a:srgbClr>
            </a:solidFill>
            <a:prstDash val="solid"/>
          </a:ln>
        </p:spPr>
      </p:sp>
      <p:sp>
        <p:nvSpPr>
          <p:cNvPr id="5" name="Text 3"/>
          <p:cNvSpPr txBox="1"/>
          <p:nvPr/>
        </p:nvSpPr>
        <p:spPr>
          <a:xfrm>
            <a:off x="621792" y="667512"/>
            <a:ext cx="157276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ANDROID PROJECT</a:t>
            </a:r>
            <a:endParaRPr lang="en-US" sz="850" dirty="0"/>
          </a:p>
        </p:txBody>
      </p:sp>
      <p:sp>
        <p:nvSpPr>
          <p:cNvPr id="6" name="Shape 4"/>
          <p:cNvSpPr/>
          <p:nvPr/>
        </p:nvSpPr>
        <p:spPr>
          <a:xfrm>
            <a:off x="658368" y="1481328"/>
            <a:ext cx="736275" cy="736275"/>
          </a:xfrm>
          <a:prstGeom prst="ellipse">
            <a:avLst/>
          </a:prstGeom>
          <a:solidFill>
            <a:srgbClr val="6D5DFB"/>
          </a:solidFill>
          <a:ln w="12700">
            <a:solidFill>
              <a:srgbClr val="6D5DFB">
                <a:alpha val="0"/>
              </a:srgbClr>
            </a:solidFill>
            <a:prstDash val="solid"/>
          </a:ln>
        </p:spPr>
      </p:sp>
      <p:sp>
        <p:nvSpPr>
          <p:cNvPr id="7" name="Shape 5"/>
          <p:cNvSpPr/>
          <p:nvPr/>
        </p:nvSpPr>
        <p:spPr>
          <a:xfrm>
            <a:off x="792236" y="1626352"/>
            <a:ext cx="468539" cy="468539"/>
          </a:xfrm>
          <a:prstGeom prst="ellipse">
            <a:avLst/>
          </a:prstGeom>
          <a:solidFill>
            <a:srgbClr val="101522"/>
          </a:solidFill>
          <a:ln w="12700">
            <a:solidFill>
              <a:srgbClr val="101522">
                <a:alpha val="0"/>
              </a:srgbClr>
            </a:solidFill>
            <a:prstDash val="solid"/>
          </a:ln>
        </p:spPr>
      </p:sp>
      <p:sp>
        <p:nvSpPr>
          <p:cNvPr id="8" name="Shape 6"/>
          <p:cNvSpPr/>
          <p:nvPr/>
        </p:nvSpPr>
        <p:spPr>
          <a:xfrm>
            <a:off x="903793" y="1726753"/>
            <a:ext cx="89245" cy="89245"/>
          </a:xfrm>
          <a:prstGeom prst="ellipse">
            <a:avLst/>
          </a:prstGeom>
          <a:solidFill>
            <a:srgbClr val="2DD4BF"/>
          </a:solidFill>
          <a:ln w="12700">
            <a:solidFill>
              <a:srgbClr val="2DD4BF">
                <a:alpha val="0"/>
              </a:srgbClr>
            </a:solidFill>
            <a:prstDash val="solid"/>
          </a:ln>
        </p:spPr>
      </p:sp>
      <p:sp>
        <p:nvSpPr>
          <p:cNvPr id="9" name="Shape 7"/>
          <p:cNvSpPr/>
          <p:nvPr/>
        </p:nvSpPr>
        <p:spPr>
          <a:xfrm>
            <a:off x="1059972" y="1726753"/>
            <a:ext cx="89245" cy="89245"/>
          </a:xfrm>
          <a:prstGeom prst="ellipse">
            <a:avLst/>
          </a:prstGeom>
          <a:solidFill>
            <a:srgbClr val="2DD4BF"/>
          </a:solidFill>
          <a:ln w="12700">
            <a:solidFill>
              <a:srgbClr val="2DD4BF">
                <a:alpha val="0"/>
              </a:srgbClr>
            </a:solidFill>
            <a:prstDash val="solid"/>
          </a:ln>
        </p:spPr>
      </p:sp>
      <p:sp>
        <p:nvSpPr>
          <p:cNvPr id="10" name="Shape 8"/>
          <p:cNvSpPr/>
          <p:nvPr/>
        </p:nvSpPr>
        <p:spPr>
          <a:xfrm>
            <a:off x="881482" y="1905244"/>
            <a:ext cx="290048" cy="0"/>
          </a:xfrm>
          <a:prstGeom prst="line">
            <a:avLst/>
          </a:prstGeom>
          <a:noFill/>
          <a:ln w="21692">
            <a:solidFill>
              <a:srgbClr val="2DD4BF"/>
            </a:solidFill>
            <a:prstDash val="solid"/>
            <a:tailEnd type="none"/>
          </a:ln>
        </p:spPr>
      </p:sp>
      <p:sp>
        <p:nvSpPr>
          <p:cNvPr id="11" name="Shape 9"/>
          <p:cNvSpPr/>
          <p:nvPr/>
        </p:nvSpPr>
        <p:spPr>
          <a:xfrm>
            <a:off x="1026505" y="1537106"/>
            <a:ext cx="0" cy="0"/>
          </a:xfrm>
          <a:prstGeom prst="line">
            <a:avLst/>
          </a:prstGeom>
          <a:noFill/>
          <a:ln w="18593">
            <a:solidFill>
              <a:srgbClr val="8B7EFF"/>
            </a:solidFill>
            <a:prstDash val="solid"/>
            <a:tailEnd type="none"/>
          </a:ln>
        </p:spPr>
      </p:sp>
      <p:sp>
        <p:nvSpPr>
          <p:cNvPr id="12" name="Shape 10"/>
          <p:cNvSpPr/>
          <p:nvPr/>
        </p:nvSpPr>
        <p:spPr>
          <a:xfrm>
            <a:off x="981883" y="1369771"/>
            <a:ext cx="89245" cy="89245"/>
          </a:xfrm>
          <a:prstGeom prst="ellipse">
            <a:avLst/>
          </a:prstGeom>
          <a:solidFill>
            <a:srgbClr val="2DD4BF"/>
          </a:solidFill>
          <a:ln w="12700">
            <a:solidFill>
              <a:srgbClr val="2DD4BF">
                <a:alpha val="0"/>
              </a:srgbClr>
            </a:solidFill>
            <a:prstDash val="solid"/>
          </a:ln>
        </p:spPr>
      </p:sp>
      <p:sp>
        <p:nvSpPr>
          <p:cNvPr id="13" name="Text 11"/>
          <p:cNvSpPr txBox="1"/>
          <p:nvPr/>
        </p:nvSpPr>
        <p:spPr>
          <a:xfrm>
            <a:off x="1444752" y="1490472"/>
            <a:ext cx="3931920" cy="502920"/>
          </a:xfrm>
          <a:prstGeom prst="rect">
            <a:avLst/>
          </a:prstGeom>
          <a:noFill/>
          <a:ln/>
        </p:spPr>
        <p:txBody>
          <a:bodyPr wrap="square" lIns="0" tIns="0" rIns="0" bIns="0" rtlCol="0" anchor="ctr">
            <a:normAutofit/>
          </a:bodyPr>
          <a:lstStyle/>
          <a:p>
            <a:pPr marL="0" indent="0" algn="l">
              <a:buNone/>
            </a:pPr>
            <a:r>
              <a:rPr lang="en-US" sz="3700" b="1" dirty="0">
                <a:solidFill>
                  <a:srgbClr val="F8FAFC"/>
                </a:solidFill>
                <a:latin typeface="Cambria" pitchFamily="34" charset="0"/>
                <a:ea typeface="Cambria" pitchFamily="34" charset="-122"/>
                <a:cs typeface="Cambria" pitchFamily="34" charset="-120"/>
              </a:rPr>
              <a:t>Chiti Code</a:t>
            </a:r>
            <a:endParaRPr lang="en-US" sz="3700" dirty="0"/>
          </a:p>
        </p:txBody>
      </p:sp>
      <p:sp>
        <p:nvSpPr>
          <p:cNvPr id="14" name="Text 12"/>
          <p:cNvSpPr txBox="1"/>
          <p:nvPr/>
        </p:nvSpPr>
        <p:spPr>
          <a:xfrm>
            <a:off x="658368" y="2258568"/>
            <a:ext cx="5120640" cy="1024128"/>
          </a:xfrm>
          <a:prstGeom prst="rect">
            <a:avLst/>
          </a:prstGeom>
          <a:noFill/>
          <a:ln/>
        </p:spPr>
        <p:txBody>
          <a:bodyPr wrap="square" lIns="0" tIns="0" rIns="0" bIns="0" rtlCol="0" anchor="ctr">
            <a:normAutofit/>
          </a:bodyPr>
          <a:lstStyle/>
          <a:p>
            <a:pPr marL="0" indent="0" algn="l">
              <a:buNone/>
            </a:pPr>
            <a:r>
              <a:rPr lang="en-US" sz="3100" b="1" dirty="0">
                <a:solidFill>
                  <a:srgbClr val="F8FAFC"/>
                </a:solidFill>
                <a:latin typeface="Cambria" pitchFamily="34" charset="0"/>
                <a:ea typeface="Cambria" pitchFamily="34" charset="-122"/>
                <a:cs typeface="Cambria" pitchFamily="34" charset="-120"/>
              </a:rPr>
              <a:t>AI coding assistance,</a:t>
            </a:r>
            <a:endParaRPr lang="en-US" sz="3100" dirty="0"/>
          </a:p>
          <a:p>
            <a:pPr marL="0" indent="0" algn="l">
              <a:buNone/>
            </a:pPr>
            <a:r>
              <a:rPr lang="en-US" sz="3100" b="1" dirty="0">
                <a:solidFill>
                  <a:srgbClr val="F8FAFC"/>
                </a:solidFill>
                <a:latin typeface="Cambria" pitchFamily="34" charset="0"/>
                <a:ea typeface="Cambria" pitchFamily="34" charset="-122"/>
                <a:cs typeface="Cambria" pitchFamily="34" charset="-120"/>
              </a:rPr>
              <a:t>made mobile.</a:t>
            </a:r>
            <a:endParaRPr lang="en-US" sz="3100" dirty="0"/>
          </a:p>
        </p:txBody>
      </p:sp>
      <p:sp>
        <p:nvSpPr>
          <p:cNvPr id="15" name="Text 13"/>
          <p:cNvSpPr txBox="1"/>
          <p:nvPr/>
        </p:nvSpPr>
        <p:spPr>
          <a:xfrm>
            <a:off x="676656" y="3520440"/>
            <a:ext cx="4526280" cy="694944"/>
          </a:xfrm>
          <a:prstGeom prst="rect">
            <a:avLst/>
          </a:prstGeom>
          <a:noFill/>
          <a:ln/>
        </p:spPr>
        <p:txBody>
          <a:bodyPr wrap="square" lIns="0" tIns="0" rIns="0" bIns="0" rtlCol="0" anchor="t">
            <a:normAutofit/>
          </a:bodyPr>
          <a:lstStyle/>
          <a:p>
            <a:pPr marL="0" indent="0" algn="l">
              <a:buNone/>
            </a:pPr>
            <a:r>
              <a:rPr lang="en-US" sz="1500" dirty="0">
                <a:solidFill>
                  <a:srgbClr val="8EA0B8"/>
                </a:solidFill>
                <a:latin typeface="Calibri" pitchFamily="34" charset="0"/>
                <a:ea typeface="Calibri" pitchFamily="34" charset="-122"/>
                <a:cs typeface="Calibri" pitchFamily="34" charset="-120"/>
              </a:rPr>
              <a:t>A conversational Android app that helps students and developers generate, understand, and debug code wherever they are.</a:t>
            </a:r>
            <a:endParaRPr lang="en-US" sz="1500" dirty="0"/>
          </a:p>
        </p:txBody>
      </p:sp>
      <p:sp>
        <p:nvSpPr>
          <p:cNvPr id="16" name="Shape 14"/>
          <p:cNvSpPr/>
          <p:nvPr/>
        </p:nvSpPr>
        <p:spPr>
          <a:xfrm>
            <a:off x="676656" y="4636008"/>
            <a:ext cx="749808" cy="256032"/>
          </a:xfrm>
          <a:prstGeom prst="roundRect">
            <a:avLst>
              <a:gd name="adj" fmla="val 42857"/>
            </a:avLst>
          </a:prstGeom>
          <a:solidFill>
            <a:srgbClr val="1B2437"/>
          </a:solidFill>
          <a:ln w="12700">
            <a:solidFill>
              <a:srgbClr val="1B2437">
                <a:alpha val="0"/>
              </a:srgbClr>
            </a:solidFill>
            <a:prstDash val="solid"/>
          </a:ln>
        </p:spPr>
      </p:sp>
      <p:sp>
        <p:nvSpPr>
          <p:cNvPr id="17" name="Text 15"/>
          <p:cNvSpPr txBox="1"/>
          <p:nvPr/>
        </p:nvSpPr>
        <p:spPr>
          <a:xfrm>
            <a:off x="676656" y="4645152"/>
            <a:ext cx="74980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8B7EFF"/>
                </a:solidFill>
                <a:latin typeface="Calibri" pitchFamily="34" charset="0"/>
                <a:ea typeface="Calibri" pitchFamily="34" charset="-122"/>
                <a:cs typeface="Calibri" pitchFamily="34" charset="-120"/>
              </a:rPr>
              <a:t>KOTLIN</a:t>
            </a:r>
            <a:endParaRPr lang="en-US" sz="850" dirty="0"/>
          </a:p>
        </p:txBody>
      </p:sp>
      <p:sp>
        <p:nvSpPr>
          <p:cNvPr id="18" name="Shape 16"/>
          <p:cNvSpPr/>
          <p:nvPr/>
        </p:nvSpPr>
        <p:spPr>
          <a:xfrm>
            <a:off x="1517904" y="4636008"/>
            <a:ext cx="1417320" cy="256032"/>
          </a:xfrm>
          <a:prstGeom prst="roundRect">
            <a:avLst>
              <a:gd name="adj" fmla="val 42857"/>
            </a:avLst>
          </a:prstGeom>
          <a:solidFill>
            <a:srgbClr val="1B2437"/>
          </a:solidFill>
          <a:ln w="12700">
            <a:solidFill>
              <a:srgbClr val="1B2437">
                <a:alpha val="0"/>
              </a:srgbClr>
            </a:solidFill>
            <a:prstDash val="solid"/>
          </a:ln>
        </p:spPr>
      </p:sp>
      <p:sp>
        <p:nvSpPr>
          <p:cNvPr id="19" name="Text 17"/>
          <p:cNvSpPr txBox="1"/>
          <p:nvPr/>
        </p:nvSpPr>
        <p:spPr>
          <a:xfrm>
            <a:off x="1517904" y="4645152"/>
            <a:ext cx="141732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JETPACK COMPOSE</a:t>
            </a:r>
            <a:endParaRPr lang="en-US" sz="850" dirty="0"/>
          </a:p>
        </p:txBody>
      </p:sp>
      <p:sp>
        <p:nvSpPr>
          <p:cNvPr id="20" name="Shape 18"/>
          <p:cNvSpPr/>
          <p:nvPr/>
        </p:nvSpPr>
        <p:spPr>
          <a:xfrm>
            <a:off x="3063240" y="4636008"/>
            <a:ext cx="658368" cy="256032"/>
          </a:xfrm>
          <a:prstGeom prst="roundRect">
            <a:avLst>
              <a:gd name="adj" fmla="val 42857"/>
            </a:avLst>
          </a:prstGeom>
          <a:solidFill>
            <a:srgbClr val="1B2437"/>
          </a:solidFill>
          <a:ln w="12700">
            <a:solidFill>
              <a:srgbClr val="1B2437">
                <a:alpha val="0"/>
              </a:srgbClr>
            </a:solidFill>
            <a:prstDash val="solid"/>
          </a:ln>
        </p:spPr>
      </p:sp>
      <p:sp>
        <p:nvSpPr>
          <p:cNvPr id="21" name="Text 19"/>
          <p:cNvSpPr txBox="1"/>
          <p:nvPr/>
        </p:nvSpPr>
        <p:spPr>
          <a:xfrm>
            <a:off x="3063240" y="4645152"/>
            <a:ext cx="65836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7C873"/>
                </a:solidFill>
                <a:latin typeface="Calibri" pitchFamily="34" charset="0"/>
                <a:ea typeface="Calibri" pitchFamily="34" charset="-122"/>
                <a:cs typeface="Calibri" pitchFamily="34" charset="-120"/>
              </a:rPr>
              <a:t>ROOM</a:t>
            </a:r>
            <a:endParaRPr lang="en-US" sz="850" dirty="0"/>
          </a:p>
        </p:txBody>
      </p:sp>
      <p:sp>
        <p:nvSpPr>
          <p:cNvPr id="22" name="Shape 20"/>
          <p:cNvSpPr/>
          <p:nvPr/>
        </p:nvSpPr>
        <p:spPr>
          <a:xfrm>
            <a:off x="3813048" y="4636008"/>
            <a:ext cx="1170432" cy="256032"/>
          </a:xfrm>
          <a:prstGeom prst="roundRect">
            <a:avLst>
              <a:gd name="adj" fmla="val 42857"/>
            </a:avLst>
          </a:prstGeom>
          <a:solidFill>
            <a:srgbClr val="1B2437"/>
          </a:solidFill>
          <a:ln w="12700">
            <a:solidFill>
              <a:srgbClr val="1B2437">
                <a:alpha val="0"/>
              </a:srgbClr>
            </a:solidFill>
            <a:prstDash val="solid"/>
          </a:ln>
        </p:spPr>
      </p:sp>
      <p:sp>
        <p:nvSpPr>
          <p:cNvPr id="23" name="Text 21"/>
          <p:cNvSpPr txBox="1"/>
          <p:nvPr/>
        </p:nvSpPr>
        <p:spPr>
          <a:xfrm>
            <a:off x="3813048" y="4645152"/>
            <a:ext cx="1170432"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F8A7A"/>
                </a:solidFill>
                <a:latin typeface="Calibri" pitchFamily="34" charset="0"/>
                <a:ea typeface="Calibri" pitchFamily="34" charset="-122"/>
                <a:cs typeface="Calibri" pitchFamily="34" charset="-120"/>
              </a:rPr>
              <a:t>AI STREAMING</a:t>
            </a:r>
            <a:endParaRPr lang="en-US" sz="850" dirty="0"/>
          </a:p>
        </p:txBody>
      </p:sp>
      <p:sp>
        <p:nvSpPr>
          <p:cNvPr id="26" name="Shape 24"/>
          <p:cNvSpPr/>
          <p:nvPr/>
        </p:nvSpPr>
        <p:spPr>
          <a:xfrm>
            <a:off x="6903720" y="603504"/>
            <a:ext cx="3401568" cy="5449824"/>
          </a:xfrm>
          <a:prstGeom prst="roundRect">
            <a:avLst>
              <a:gd name="adj" fmla="val 6452"/>
            </a:avLst>
          </a:prstGeom>
          <a:solidFill>
            <a:srgbClr val="0B0F17"/>
          </a:solidFill>
          <a:ln w="12700">
            <a:solidFill>
              <a:srgbClr val="202B42"/>
            </a:solidFill>
            <a:prstDash val="solid"/>
          </a:ln>
        </p:spPr>
      </p:sp>
      <p:sp>
        <p:nvSpPr>
          <p:cNvPr id="27" name="Shape 25"/>
          <p:cNvSpPr/>
          <p:nvPr/>
        </p:nvSpPr>
        <p:spPr>
          <a:xfrm>
            <a:off x="6976872" y="713232"/>
            <a:ext cx="3255264" cy="5230368"/>
          </a:xfrm>
          <a:prstGeom prst="roundRect">
            <a:avLst>
              <a:gd name="adj" fmla="val 4775"/>
            </a:avLst>
          </a:prstGeom>
          <a:solidFill>
            <a:srgbClr val="151C2D"/>
          </a:solidFill>
          <a:ln w="12700">
            <a:solidFill>
              <a:srgbClr val="151C2D">
                <a:alpha val="0"/>
              </a:srgbClr>
            </a:solidFill>
            <a:prstDash val="solid"/>
          </a:ln>
        </p:spPr>
      </p:sp>
      <p:sp>
        <p:nvSpPr>
          <p:cNvPr id="28" name="Shape 26"/>
          <p:cNvSpPr/>
          <p:nvPr/>
        </p:nvSpPr>
        <p:spPr>
          <a:xfrm>
            <a:off x="8284464" y="644652"/>
            <a:ext cx="640080" cy="64008"/>
          </a:xfrm>
          <a:prstGeom prst="roundRect">
            <a:avLst>
              <a:gd name="adj" fmla="val 42857"/>
            </a:avLst>
          </a:prstGeom>
          <a:solidFill>
            <a:srgbClr val="0B0F17"/>
          </a:solidFill>
          <a:ln w="12700">
            <a:solidFill>
              <a:srgbClr val="0B0F17">
                <a:alpha val="0"/>
              </a:srgbClr>
            </a:solidFill>
            <a:prstDash val="solid"/>
          </a:ln>
        </p:spPr>
      </p:sp>
      <p:sp>
        <p:nvSpPr>
          <p:cNvPr id="29" name="Text 27"/>
          <p:cNvSpPr txBox="1"/>
          <p:nvPr/>
        </p:nvSpPr>
        <p:spPr>
          <a:xfrm>
            <a:off x="7086600" y="758952"/>
            <a:ext cx="310896" cy="128016"/>
          </a:xfrm>
          <a:prstGeom prst="rect">
            <a:avLst/>
          </a:prstGeom>
          <a:noFill/>
          <a:ln/>
        </p:spPr>
        <p:txBody>
          <a:bodyPr wrap="square" lIns="0" tIns="0" rIns="0" bIns="0" rtlCol="0" anchor="ctr">
            <a:normAutofit/>
          </a:bodyPr>
          <a:lstStyle/>
          <a:p>
            <a:pPr marL="0" indent="0" algn="l">
              <a:buNone/>
            </a:pPr>
            <a:r>
              <a:rPr lang="en-US" sz="700" dirty="0">
                <a:solidFill>
                  <a:srgbClr val="8EA0B8"/>
                </a:solidFill>
                <a:latin typeface="Calibri" pitchFamily="34" charset="0"/>
                <a:ea typeface="Calibri" pitchFamily="34" charset="-122"/>
                <a:cs typeface="Calibri" pitchFamily="34" charset="-120"/>
              </a:rPr>
              <a:t>9:41</a:t>
            </a:r>
            <a:endParaRPr lang="en-US" sz="700" dirty="0"/>
          </a:p>
        </p:txBody>
      </p:sp>
      <p:sp>
        <p:nvSpPr>
          <p:cNvPr id="30" name="Text 28"/>
          <p:cNvSpPr txBox="1"/>
          <p:nvPr/>
        </p:nvSpPr>
        <p:spPr>
          <a:xfrm>
            <a:off x="7150608" y="1042416"/>
            <a:ext cx="2907792" cy="219456"/>
          </a:xfrm>
          <a:prstGeom prst="rect">
            <a:avLst/>
          </a:prstGeom>
          <a:noFill/>
          <a:ln/>
        </p:spPr>
        <p:txBody>
          <a:bodyPr wrap="square" lIns="0" tIns="0" rIns="0" bIns="0" rtlCol="0" anchor="ctr">
            <a:normAutofit/>
          </a:bodyPr>
          <a:lstStyle/>
          <a:p>
            <a:pPr marL="0" indent="0" algn="l">
              <a:buNone/>
            </a:pPr>
            <a:r>
              <a:rPr lang="en-US" sz="1150" b="1" dirty="0">
                <a:solidFill>
                  <a:srgbClr val="F8FAFC"/>
                </a:solidFill>
                <a:latin typeface="Calibri" pitchFamily="34" charset="0"/>
                <a:ea typeface="Calibri" pitchFamily="34" charset="-122"/>
                <a:cs typeface="Calibri" pitchFamily="34" charset="-120"/>
              </a:rPr>
              <a:t>Chiti Code</a:t>
            </a:r>
            <a:endParaRPr lang="en-US" sz="1150" dirty="0"/>
          </a:p>
        </p:txBody>
      </p:sp>
      <p:sp>
        <p:nvSpPr>
          <p:cNvPr id="31" name="Shape 29"/>
          <p:cNvSpPr/>
          <p:nvPr/>
        </p:nvSpPr>
        <p:spPr>
          <a:xfrm>
            <a:off x="7068312" y="1316736"/>
            <a:ext cx="3072384" cy="0"/>
          </a:xfrm>
          <a:prstGeom prst="line">
            <a:avLst/>
          </a:prstGeom>
          <a:noFill/>
          <a:ln w="8890">
            <a:solidFill>
              <a:srgbClr val="202B42"/>
            </a:solidFill>
            <a:prstDash val="solid"/>
            <a:tailEnd type="none"/>
          </a:ln>
        </p:spPr>
      </p:sp>
      <p:sp>
        <p:nvSpPr>
          <p:cNvPr id="32" name="Shape 30"/>
          <p:cNvSpPr/>
          <p:nvPr/>
        </p:nvSpPr>
        <p:spPr>
          <a:xfrm>
            <a:off x="8348472" y="1536192"/>
            <a:ext cx="506943" cy="506943"/>
          </a:xfrm>
          <a:prstGeom prst="ellipse">
            <a:avLst/>
          </a:prstGeom>
          <a:solidFill>
            <a:srgbClr val="6D5DFB"/>
          </a:solidFill>
          <a:ln w="12700">
            <a:solidFill>
              <a:srgbClr val="6D5DFB">
                <a:alpha val="0"/>
              </a:srgbClr>
            </a:solidFill>
            <a:prstDash val="solid"/>
          </a:ln>
        </p:spPr>
      </p:sp>
      <p:sp>
        <p:nvSpPr>
          <p:cNvPr id="33" name="Shape 31"/>
          <p:cNvSpPr/>
          <p:nvPr/>
        </p:nvSpPr>
        <p:spPr>
          <a:xfrm>
            <a:off x="8440644" y="1636044"/>
            <a:ext cx="322600" cy="322600"/>
          </a:xfrm>
          <a:prstGeom prst="ellipse">
            <a:avLst/>
          </a:prstGeom>
          <a:solidFill>
            <a:srgbClr val="101522"/>
          </a:solidFill>
          <a:ln w="12700">
            <a:solidFill>
              <a:srgbClr val="101522">
                <a:alpha val="0"/>
              </a:srgbClr>
            </a:solidFill>
            <a:prstDash val="solid"/>
          </a:ln>
        </p:spPr>
      </p:sp>
      <p:sp>
        <p:nvSpPr>
          <p:cNvPr id="34" name="Shape 32"/>
          <p:cNvSpPr/>
          <p:nvPr/>
        </p:nvSpPr>
        <p:spPr>
          <a:xfrm>
            <a:off x="8517453" y="1705173"/>
            <a:ext cx="61448" cy="61448"/>
          </a:xfrm>
          <a:prstGeom prst="ellipse">
            <a:avLst/>
          </a:prstGeom>
          <a:solidFill>
            <a:srgbClr val="2DD4BF"/>
          </a:solidFill>
          <a:ln w="12700">
            <a:solidFill>
              <a:srgbClr val="2DD4BF">
                <a:alpha val="0"/>
              </a:srgbClr>
            </a:solidFill>
            <a:prstDash val="solid"/>
          </a:ln>
        </p:spPr>
      </p:sp>
      <p:sp>
        <p:nvSpPr>
          <p:cNvPr id="35" name="Shape 33"/>
          <p:cNvSpPr/>
          <p:nvPr/>
        </p:nvSpPr>
        <p:spPr>
          <a:xfrm>
            <a:off x="8624987" y="1705173"/>
            <a:ext cx="61448" cy="61448"/>
          </a:xfrm>
          <a:prstGeom prst="ellipse">
            <a:avLst/>
          </a:prstGeom>
          <a:solidFill>
            <a:srgbClr val="2DD4BF"/>
          </a:solidFill>
          <a:ln w="12700">
            <a:solidFill>
              <a:srgbClr val="2DD4BF">
                <a:alpha val="0"/>
              </a:srgbClr>
            </a:solidFill>
            <a:prstDash val="solid"/>
          </a:ln>
        </p:spPr>
      </p:sp>
      <p:sp>
        <p:nvSpPr>
          <p:cNvPr id="36" name="Shape 34"/>
          <p:cNvSpPr/>
          <p:nvPr/>
        </p:nvSpPr>
        <p:spPr>
          <a:xfrm>
            <a:off x="8502091" y="1828068"/>
            <a:ext cx="199705" cy="0"/>
          </a:xfrm>
          <a:prstGeom prst="line">
            <a:avLst/>
          </a:prstGeom>
          <a:noFill/>
          <a:ln w="14935">
            <a:solidFill>
              <a:srgbClr val="2DD4BF"/>
            </a:solidFill>
            <a:prstDash val="solid"/>
            <a:tailEnd type="none"/>
          </a:ln>
        </p:spPr>
      </p:sp>
      <p:sp>
        <p:nvSpPr>
          <p:cNvPr id="37" name="Shape 35"/>
          <p:cNvSpPr/>
          <p:nvPr/>
        </p:nvSpPr>
        <p:spPr>
          <a:xfrm>
            <a:off x="8601944" y="1574597"/>
            <a:ext cx="0" cy="0"/>
          </a:xfrm>
          <a:prstGeom prst="line">
            <a:avLst/>
          </a:prstGeom>
          <a:noFill/>
          <a:ln w="12802">
            <a:solidFill>
              <a:srgbClr val="8B7EFF"/>
            </a:solidFill>
            <a:prstDash val="solid"/>
            <a:tailEnd type="none"/>
          </a:ln>
        </p:spPr>
      </p:sp>
      <p:sp>
        <p:nvSpPr>
          <p:cNvPr id="38" name="Shape 36"/>
          <p:cNvSpPr/>
          <p:nvPr/>
        </p:nvSpPr>
        <p:spPr>
          <a:xfrm>
            <a:off x="8571220" y="1459382"/>
            <a:ext cx="61448" cy="61448"/>
          </a:xfrm>
          <a:prstGeom prst="ellipse">
            <a:avLst/>
          </a:prstGeom>
          <a:solidFill>
            <a:srgbClr val="2DD4BF"/>
          </a:solidFill>
          <a:ln w="12700">
            <a:solidFill>
              <a:srgbClr val="2DD4BF">
                <a:alpha val="0"/>
              </a:srgbClr>
            </a:solidFill>
            <a:prstDash val="solid"/>
          </a:ln>
        </p:spPr>
      </p:sp>
      <p:sp>
        <p:nvSpPr>
          <p:cNvPr id="39" name="Text 37"/>
          <p:cNvSpPr txBox="1"/>
          <p:nvPr/>
        </p:nvSpPr>
        <p:spPr>
          <a:xfrm>
            <a:off x="7141464" y="2267712"/>
            <a:ext cx="2926080" cy="502920"/>
          </a:xfrm>
          <a:prstGeom prst="rect">
            <a:avLst/>
          </a:prstGeom>
          <a:noFill/>
          <a:ln/>
        </p:spPr>
        <p:txBody>
          <a:bodyPr wrap="square" lIns="0" tIns="0" rIns="0" bIns="0" rtlCol="0" anchor="ctr">
            <a:normAutofit/>
          </a:bodyPr>
          <a:lstStyle/>
          <a:p>
            <a:pPr marL="0" indent="0" algn="ctr">
              <a:buNone/>
            </a:pPr>
            <a:r>
              <a:rPr lang="en-US" sz="1600" b="1" dirty="0">
                <a:solidFill>
                  <a:srgbClr val="F8FAFC"/>
                </a:solidFill>
                <a:latin typeface="Calibri" pitchFamily="34" charset="0"/>
                <a:ea typeface="Calibri" pitchFamily="34" charset="-122"/>
                <a:cs typeface="Calibri" pitchFamily="34" charset="-120"/>
              </a:rPr>
              <a:t>What can I help</a:t>
            </a:r>
            <a:endParaRPr lang="en-US" sz="1600" dirty="0"/>
          </a:p>
          <a:p>
            <a:pPr marL="0" indent="0" algn="ctr">
              <a:buNone/>
            </a:pPr>
            <a:r>
              <a:rPr lang="en-US" sz="1600" b="1" dirty="0">
                <a:solidFill>
                  <a:srgbClr val="F8FAFC"/>
                </a:solidFill>
                <a:latin typeface="Calibri" pitchFamily="34" charset="0"/>
                <a:ea typeface="Calibri" pitchFamily="34" charset="-122"/>
                <a:cs typeface="Calibri" pitchFamily="34" charset="-120"/>
              </a:rPr>
              <a:t>you code?</a:t>
            </a:r>
            <a:endParaRPr lang="en-US" sz="1600" dirty="0"/>
          </a:p>
        </p:txBody>
      </p:sp>
      <p:sp>
        <p:nvSpPr>
          <p:cNvPr id="40" name="Shape 38"/>
          <p:cNvSpPr/>
          <p:nvPr/>
        </p:nvSpPr>
        <p:spPr>
          <a:xfrm>
            <a:off x="7104888" y="3026664"/>
            <a:ext cx="2999232" cy="320040"/>
          </a:xfrm>
          <a:prstGeom prst="roundRect">
            <a:avLst>
              <a:gd name="adj" fmla="val 22857"/>
            </a:avLst>
          </a:prstGeom>
          <a:solidFill>
            <a:srgbClr val="1B2437"/>
          </a:solidFill>
          <a:ln w="12700">
            <a:solidFill>
              <a:srgbClr val="1B2437">
                <a:alpha val="0"/>
              </a:srgbClr>
            </a:solidFill>
            <a:prstDash val="solid"/>
          </a:ln>
        </p:spPr>
      </p:sp>
      <p:sp>
        <p:nvSpPr>
          <p:cNvPr id="41" name="Text 39"/>
          <p:cNvSpPr txBox="1"/>
          <p:nvPr/>
        </p:nvSpPr>
        <p:spPr>
          <a:xfrm>
            <a:off x="7232904" y="3081528"/>
            <a:ext cx="2743200" cy="164592"/>
          </a:xfrm>
          <a:prstGeom prst="rect">
            <a:avLst/>
          </a:prstGeom>
          <a:noFill/>
          <a:ln/>
        </p:spPr>
        <p:txBody>
          <a:bodyPr wrap="square" lIns="0" tIns="0" rIns="0" bIns="0" rtlCol="0" anchor="ctr">
            <a:normAutofit/>
          </a:bodyPr>
          <a:lstStyle/>
          <a:p>
            <a:pPr marL="0" indent="0" algn="l">
              <a:buNone/>
            </a:pPr>
            <a:r>
              <a:rPr lang="en-US" sz="830" dirty="0">
                <a:solidFill>
                  <a:srgbClr val="8EA0B8"/>
                </a:solidFill>
                <a:latin typeface="Calibri" pitchFamily="34" charset="0"/>
                <a:ea typeface="Calibri" pitchFamily="34" charset="-122"/>
                <a:cs typeface="Calibri" pitchFamily="34" charset="-120"/>
              </a:rPr>
              <a:t>Prime number in Python</a:t>
            </a:r>
            <a:endParaRPr lang="en-US" sz="830" dirty="0"/>
          </a:p>
        </p:txBody>
      </p:sp>
      <p:sp>
        <p:nvSpPr>
          <p:cNvPr id="42" name="Shape 40"/>
          <p:cNvSpPr/>
          <p:nvPr/>
        </p:nvSpPr>
        <p:spPr>
          <a:xfrm>
            <a:off x="7104888" y="3465576"/>
            <a:ext cx="2999232" cy="320040"/>
          </a:xfrm>
          <a:prstGeom prst="roundRect">
            <a:avLst>
              <a:gd name="adj" fmla="val 22857"/>
            </a:avLst>
          </a:prstGeom>
          <a:solidFill>
            <a:srgbClr val="1B2437"/>
          </a:solidFill>
          <a:ln w="12700">
            <a:solidFill>
              <a:srgbClr val="1B2437">
                <a:alpha val="0"/>
              </a:srgbClr>
            </a:solidFill>
            <a:prstDash val="solid"/>
          </a:ln>
        </p:spPr>
      </p:sp>
      <p:sp>
        <p:nvSpPr>
          <p:cNvPr id="43" name="Text 41"/>
          <p:cNvSpPr txBox="1"/>
          <p:nvPr/>
        </p:nvSpPr>
        <p:spPr>
          <a:xfrm>
            <a:off x="7232904" y="3520440"/>
            <a:ext cx="2743200" cy="164592"/>
          </a:xfrm>
          <a:prstGeom prst="rect">
            <a:avLst/>
          </a:prstGeom>
          <a:noFill/>
          <a:ln/>
        </p:spPr>
        <p:txBody>
          <a:bodyPr wrap="square" lIns="0" tIns="0" rIns="0" bIns="0" rtlCol="0" anchor="ctr">
            <a:normAutofit/>
          </a:bodyPr>
          <a:lstStyle/>
          <a:p>
            <a:pPr marL="0" indent="0" algn="l">
              <a:buNone/>
            </a:pPr>
            <a:r>
              <a:rPr lang="en-US" sz="830" dirty="0">
                <a:solidFill>
                  <a:srgbClr val="8EA0B8"/>
                </a:solidFill>
                <a:latin typeface="Calibri" pitchFamily="34" charset="0"/>
                <a:ea typeface="Calibri" pitchFamily="34" charset="-122"/>
                <a:cs typeface="Calibri" pitchFamily="34" charset="-120"/>
              </a:rPr>
              <a:t>Binary search in Java</a:t>
            </a:r>
            <a:endParaRPr lang="en-US" sz="830" dirty="0"/>
          </a:p>
        </p:txBody>
      </p:sp>
      <p:sp>
        <p:nvSpPr>
          <p:cNvPr id="44" name="Shape 42"/>
          <p:cNvSpPr/>
          <p:nvPr/>
        </p:nvSpPr>
        <p:spPr>
          <a:xfrm>
            <a:off x="7104888" y="3904488"/>
            <a:ext cx="2999232" cy="320040"/>
          </a:xfrm>
          <a:prstGeom prst="roundRect">
            <a:avLst>
              <a:gd name="adj" fmla="val 22857"/>
            </a:avLst>
          </a:prstGeom>
          <a:solidFill>
            <a:srgbClr val="1B2437"/>
          </a:solidFill>
          <a:ln w="12700">
            <a:solidFill>
              <a:srgbClr val="1B2437">
                <a:alpha val="0"/>
              </a:srgbClr>
            </a:solidFill>
            <a:prstDash val="solid"/>
          </a:ln>
        </p:spPr>
      </p:sp>
      <p:sp>
        <p:nvSpPr>
          <p:cNvPr id="45" name="Text 43"/>
          <p:cNvSpPr txBox="1"/>
          <p:nvPr/>
        </p:nvSpPr>
        <p:spPr>
          <a:xfrm>
            <a:off x="7232904" y="3959352"/>
            <a:ext cx="2743200" cy="164592"/>
          </a:xfrm>
          <a:prstGeom prst="rect">
            <a:avLst/>
          </a:prstGeom>
          <a:noFill/>
          <a:ln/>
        </p:spPr>
        <p:txBody>
          <a:bodyPr wrap="square" lIns="0" tIns="0" rIns="0" bIns="0" rtlCol="0" anchor="ctr">
            <a:normAutofit/>
          </a:bodyPr>
          <a:lstStyle/>
          <a:p>
            <a:pPr marL="0" indent="0" algn="l">
              <a:buNone/>
            </a:pPr>
            <a:r>
              <a:rPr lang="en-US" sz="830" dirty="0">
                <a:solidFill>
                  <a:srgbClr val="8EA0B8"/>
                </a:solidFill>
                <a:latin typeface="Calibri" pitchFamily="34" charset="0"/>
                <a:ea typeface="Calibri" pitchFamily="34" charset="-122"/>
                <a:cs typeface="Calibri" pitchFamily="34" charset="-120"/>
              </a:rPr>
              <a:t>Debug Kotlin error</a:t>
            </a:r>
            <a:endParaRPr lang="en-US" sz="830" dirty="0"/>
          </a:p>
        </p:txBody>
      </p:sp>
      <p:sp>
        <p:nvSpPr>
          <p:cNvPr id="46" name="Shape 44"/>
          <p:cNvSpPr/>
          <p:nvPr/>
        </p:nvSpPr>
        <p:spPr>
          <a:xfrm>
            <a:off x="10625328" y="4498848"/>
            <a:ext cx="960120" cy="658368"/>
          </a:xfrm>
          <a:prstGeom prst="roundRect">
            <a:avLst>
              <a:gd name="adj" fmla="val 16667"/>
            </a:avLst>
          </a:prstGeom>
          <a:solidFill>
            <a:srgbClr val="202B42"/>
          </a:solidFill>
          <a:ln w="12700">
            <a:solidFill>
              <a:srgbClr val="202B42">
                <a:alpha val="0"/>
              </a:srgbClr>
            </a:solidFill>
            <a:prstDash val="solid"/>
          </a:ln>
        </p:spPr>
      </p:sp>
      <p:sp>
        <p:nvSpPr>
          <p:cNvPr id="47" name="Text 45"/>
          <p:cNvSpPr txBox="1"/>
          <p:nvPr/>
        </p:nvSpPr>
        <p:spPr>
          <a:xfrm>
            <a:off x="10753344" y="4608576"/>
            <a:ext cx="713232" cy="402336"/>
          </a:xfrm>
          <a:prstGeom prst="rect">
            <a:avLst/>
          </a:prstGeom>
          <a:noFill/>
          <a:ln/>
        </p:spPr>
        <p:txBody>
          <a:bodyPr wrap="square" lIns="0" tIns="0" rIns="0" bIns="0" rtlCol="0" anchor="ctr">
            <a:normAutofit/>
          </a:bodyPr>
          <a:lstStyle/>
          <a:p>
            <a:pPr marL="0" indent="0" algn="ctr">
              <a:buNone/>
            </a:pPr>
            <a:r>
              <a:rPr lang="en-US" sz="1100" b="1" dirty="0">
                <a:solidFill>
                  <a:srgbClr val="2DD4BF"/>
                </a:solidFill>
                <a:latin typeface="Courier New" pitchFamily="34" charset="0"/>
                <a:ea typeface="Courier New" pitchFamily="34" charset="-122"/>
                <a:cs typeface="Courier New" pitchFamily="34" charset="-120"/>
              </a:rPr>
              <a:t>&gt;_</a:t>
            </a:r>
            <a:endParaRPr lang="en-US" sz="1100" dirty="0"/>
          </a:p>
          <a:p>
            <a:pPr marL="0" indent="0" algn="ctr">
              <a:buNone/>
            </a:pPr>
            <a:r>
              <a:rPr lang="en-US" sz="1100" b="1" dirty="0">
                <a:solidFill>
                  <a:srgbClr val="2DD4BF"/>
                </a:solidFill>
                <a:latin typeface="Courier New" pitchFamily="34" charset="0"/>
                <a:ea typeface="Courier New" pitchFamily="34" charset="-122"/>
                <a:cs typeface="Courier New" pitchFamily="34" charset="-120"/>
              </a:rPr>
              <a:t>code</a:t>
            </a:r>
            <a:endParaRPr lang="en-US" sz="1100" dirty="0"/>
          </a:p>
        </p:txBody>
      </p:sp>
      <p:sp>
        <p:nvSpPr>
          <p:cNvPr id="48" name="Text 46"/>
          <p:cNvSpPr txBox="1"/>
          <p:nvPr/>
        </p:nvSpPr>
        <p:spPr>
          <a:xfrm>
            <a:off x="11228832" y="6473952"/>
            <a:ext cx="365760" cy="164592"/>
          </a:xfrm>
          <a:prstGeom prst="rect">
            <a:avLst/>
          </a:prstGeom>
          <a:noFill/>
          <a:ln/>
        </p:spPr>
        <p:txBody>
          <a:bodyPr wrap="square" lIns="0" tIns="0" rIns="0" bIns="0" rtlCol="0" anchor="ctr">
            <a:normAutofit/>
          </a:bodyPr>
          <a:lstStyle/>
          <a:p>
            <a:pPr marL="0" indent="0" algn="r">
              <a:buNone/>
            </a:pPr>
            <a:r>
              <a:rPr lang="en-US" sz="900" b="1" dirty="0">
                <a:solidFill>
                  <a:srgbClr val="56657D"/>
                </a:solidFill>
                <a:latin typeface="Calibri" pitchFamily="34" charset="0"/>
                <a:ea typeface="Calibri" pitchFamily="34" charset="-122"/>
                <a:cs typeface="Calibri" pitchFamily="34" charset="-120"/>
              </a:rPr>
              <a:t>01</a:t>
            </a:r>
            <a:endParaRPr lang="en-US" sz="900" dirty="0"/>
          </a:p>
        </p:txBody>
      </p:sp>
      <p:sp>
        <p:nvSpPr>
          <p:cNvPr id="49" name="Text 47"/>
          <p:cNvSpPr txBox="1"/>
          <p:nvPr/>
        </p:nvSpPr>
        <p:spPr>
          <a:xfrm>
            <a:off x="566928" y="6473952"/>
            <a:ext cx="2011680" cy="164592"/>
          </a:xfrm>
          <a:prstGeom prst="rect">
            <a:avLst/>
          </a:prstGeom>
          <a:noFill/>
          <a:ln/>
        </p:spPr>
        <p:txBody>
          <a:bodyPr wrap="square" lIns="0" tIns="0" rIns="0" bIns="0" rtlCol="0" anchor="ctr">
            <a:normAutofit/>
          </a:bodyPr>
          <a:lstStyle/>
          <a:p>
            <a:pPr marL="0" indent="0" algn="l">
              <a:buNone/>
            </a:pPr>
            <a:r>
              <a:rPr lang="en-US" sz="800" b="1" kern="0" spc="110" dirty="0">
                <a:solidFill>
                  <a:srgbClr val="56657D"/>
                </a:solidFill>
                <a:latin typeface="Calibri" pitchFamily="34" charset="0"/>
                <a:ea typeface="Calibri" pitchFamily="34" charset="-122"/>
                <a:cs typeface="Calibri" pitchFamily="34" charset="-120"/>
              </a:rPr>
              <a:t>INTRODUCTION</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01522"/>
        </a:solidFill>
        <a:effectLst/>
      </p:bgPr>
    </p:bg>
    <p:spTree>
      <p:nvGrpSpPr>
        <p:cNvPr id="1" name=""/>
        <p:cNvGrpSpPr/>
        <p:nvPr/>
      </p:nvGrpSpPr>
      <p:grpSpPr>
        <a:xfrm>
          <a:off x="0" y="0"/>
          <a:ext cx="0" cy="0"/>
          <a:chOff x="0" y="0"/>
          <a:chExt cx="0" cy="0"/>
        </a:xfrm>
      </p:grpSpPr>
      <p:sp>
        <p:nvSpPr>
          <p:cNvPr id="2" name="Shape 0"/>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3" name="Text 1"/>
          <p:cNvSpPr txBox="1"/>
          <p:nvPr/>
        </p:nvSpPr>
        <p:spPr>
          <a:xfrm>
            <a:off x="566928" y="448056"/>
            <a:ext cx="132588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01 / WHY</a:t>
            </a:r>
            <a:endParaRPr lang="en-US" sz="850" dirty="0"/>
          </a:p>
        </p:txBody>
      </p:sp>
      <p:sp>
        <p:nvSpPr>
          <p:cNvPr id="4" name="Text 2"/>
          <p:cNvSpPr txBox="1"/>
          <p:nvPr/>
        </p:nvSpPr>
        <p:spPr>
          <a:xfrm>
            <a:off x="566928" y="841248"/>
            <a:ext cx="7955280" cy="512064"/>
          </a:xfrm>
          <a:prstGeom prst="rect">
            <a:avLst/>
          </a:prstGeom>
          <a:noFill/>
          <a:ln/>
        </p:spPr>
        <p:txBody>
          <a:bodyPr wrap="square" lIns="0" tIns="0" rIns="0" bIns="0" rtlCol="0" anchor="ctr">
            <a:normAutofit/>
          </a:bodyPr>
          <a:lstStyle/>
          <a:p>
            <a:pPr marL="0" indent="0" algn="l">
              <a:buNone/>
            </a:pPr>
            <a:r>
              <a:rPr lang="en-US" sz="2900" b="1" dirty="0">
                <a:solidFill>
                  <a:srgbClr val="F8FAFC"/>
                </a:solidFill>
                <a:latin typeface="Cambria" pitchFamily="34" charset="0"/>
                <a:ea typeface="Cambria" pitchFamily="34" charset="-122"/>
                <a:cs typeface="Cambria" pitchFamily="34" charset="-120"/>
              </a:rPr>
              <a:t>From coding friction to a clear next step.</a:t>
            </a:r>
            <a:endParaRPr lang="en-US" sz="2900" dirty="0"/>
          </a:p>
        </p:txBody>
      </p:sp>
      <p:sp>
        <p:nvSpPr>
          <p:cNvPr id="5" name="Text 3"/>
          <p:cNvSpPr txBox="1"/>
          <p:nvPr/>
        </p:nvSpPr>
        <p:spPr>
          <a:xfrm>
            <a:off x="585216" y="1426464"/>
            <a:ext cx="8412480" cy="292608"/>
          </a:xfrm>
          <a:prstGeom prst="rect">
            <a:avLst/>
          </a:prstGeom>
          <a:noFill/>
          <a:ln/>
        </p:spPr>
        <p:txBody>
          <a:bodyPr wrap="square" lIns="0" tIns="0" rIns="0" bIns="0" rtlCol="0" anchor="ctr">
            <a:normAutofit/>
          </a:bodyPr>
          <a:lstStyle/>
          <a:p>
            <a:pPr marL="0" indent="0" algn="l">
              <a:buNone/>
            </a:pPr>
            <a:r>
              <a:rPr lang="en-US" sz="1350" dirty="0">
                <a:solidFill>
                  <a:srgbClr val="8EA0B8"/>
                </a:solidFill>
                <a:latin typeface="Calibri" pitchFamily="34" charset="0"/>
                <a:ea typeface="Calibri" pitchFamily="34" charset="-122"/>
                <a:cs typeface="Calibri" pitchFamily="34" charset="-120"/>
              </a:rPr>
              <a:t>The project is built around one simple objective: reduce the time between a coding problem and a useful answer.</a:t>
            </a:r>
            <a:endParaRPr lang="en-US" sz="1350" dirty="0"/>
          </a:p>
        </p:txBody>
      </p:sp>
      <p:sp>
        <p:nvSpPr>
          <p:cNvPr id="6" name="Shape 4"/>
          <p:cNvSpPr/>
          <p:nvPr/>
        </p:nvSpPr>
        <p:spPr>
          <a:xfrm>
            <a:off x="594360" y="2011680"/>
            <a:ext cx="2889504" cy="3566160"/>
          </a:xfrm>
          <a:prstGeom prst="roundRect">
            <a:avLst>
              <a:gd name="adj" fmla="val 5696"/>
            </a:avLst>
          </a:prstGeom>
          <a:solidFill>
            <a:srgbClr val="1B2437"/>
          </a:solidFill>
          <a:ln w="12700">
            <a:solidFill>
              <a:srgbClr val="1B2437">
                <a:alpha val="0"/>
              </a:srgbClr>
            </a:solidFill>
            <a:prstDash val="solid"/>
          </a:ln>
        </p:spPr>
      </p:sp>
      <p:sp>
        <p:nvSpPr>
          <p:cNvPr id="7" name="Shape 5"/>
          <p:cNvSpPr/>
          <p:nvPr/>
        </p:nvSpPr>
        <p:spPr>
          <a:xfrm>
            <a:off x="850392" y="2286000"/>
            <a:ext cx="1216152" cy="256032"/>
          </a:xfrm>
          <a:prstGeom prst="roundRect">
            <a:avLst>
              <a:gd name="adj" fmla="val 42857"/>
            </a:avLst>
          </a:prstGeom>
          <a:solidFill>
            <a:srgbClr val="151C2D"/>
          </a:solidFill>
          <a:ln w="12700">
            <a:solidFill>
              <a:srgbClr val="151C2D">
                <a:alpha val="0"/>
              </a:srgbClr>
            </a:solidFill>
            <a:prstDash val="solid"/>
          </a:ln>
        </p:spPr>
      </p:sp>
      <p:sp>
        <p:nvSpPr>
          <p:cNvPr id="8" name="Text 6"/>
          <p:cNvSpPr txBox="1"/>
          <p:nvPr/>
        </p:nvSpPr>
        <p:spPr>
          <a:xfrm>
            <a:off x="850392" y="2295144"/>
            <a:ext cx="1216152"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F8A7A"/>
                </a:solidFill>
                <a:latin typeface="Calibri" pitchFamily="34" charset="0"/>
                <a:ea typeface="Calibri" pitchFamily="34" charset="-122"/>
                <a:cs typeface="Calibri" pitchFamily="34" charset="-120"/>
              </a:rPr>
              <a:t>THE PROBLEM</a:t>
            </a:r>
            <a:endParaRPr lang="en-US" sz="850" dirty="0"/>
          </a:p>
        </p:txBody>
      </p:sp>
      <p:sp>
        <p:nvSpPr>
          <p:cNvPr id="9" name="Text 7"/>
          <p:cNvSpPr txBox="1"/>
          <p:nvPr/>
        </p:nvSpPr>
        <p:spPr>
          <a:xfrm>
            <a:off x="850392" y="2743200"/>
            <a:ext cx="2267712" cy="530352"/>
          </a:xfrm>
          <a:prstGeom prst="rect">
            <a:avLst/>
          </a:prstGeom>
          <a:noFill/>
          <a:ln/>
        </p:spPr>
        <p:txBody>
          <a:bodyPr wrap="square" lIns="0" tIns="0" rIns="0" bIns="0" rtlCol="0" anchor="t">
            <a:normAutofit/>
          </a:bodyPr>
          <a:lstStyle/>
          <a:p>
            <a:pPr marL="0" indent="0" algn="l">
              <a:buNone/>
            </a:pPr>
            <a:r>
              <a:rPr lang="en-US" sz="1500" b="1" dirty="0">
                <a:solidFill>
                  <a:srgbClr val="F8FAFC"/>
                </a:solidFill>
                <a:latin typeface="Calibri" pitchFamily="34" charset="0"/>
                <a:ea typeface="Calibri" pitchFamily="34" charset="-122"/>
                <a:cs typeface="Calibri" pitchFamily="34" charset="-120"/>
              </a:rPr>
              <a:t>When learning or building on the go, users often get stuck on:</a:t>
            </a:r>
            <a:endParaRPr lang="en-US" sz="1500" dirty="0"/>
          </a:p>
        </p:txBody>
      </p:sp>
      <p:sp>
        <p:nvSpPr>
          <p:cNvPr id="10" name="Shape 8"/>
          <p:cNvSpPr/>
          <p:nvPr/>
        </p:nvSpPr>
        <p:spPr>
          <a:xfrm>
            <a:off x="868680" y="3639312"/>
            <a:ext cx="73152" cy="73152"/>
          </a:xfrm>
          <a:prstGeom prst="ellipse">
            <a:avLst/>
          </a:prstGeom>
          <a:solidFill>
            <a:srgbClr val="FF8A7A"/>
          </a:solidFill>
          <a:ln w="12700">
            <a:solidFill>
              <a:srgbClr val="FF8A7A">
                <a:alpha val="0"/>
              </a:srgbClr>
            </a:solidFill>
            <a:prstDash val="solid"/>
          </a:ln>
        </p:spPr>
      </p:sp>
      <p:sp>
        <p:nvSpPr>
          <p:cNvPr id="11" name="Text 9"/>
          <p:cNvSpPr txBox="1"/>
          <p:nvPr/>
        </p:nvSpPr>
        <p:spPr>
          <a:xfrm>
            <a:off x="1033272" y="3566160"/>
            <a:ext cx="2139696" cy="292608"/>
          </a:xfrm>
          <a:prstGeom prst="rect">
            <a:avLst/>
          </a:prstGeom>
          <a:noFill/>
          <a:ln/>
        </p:spPr>
        <p:txBody>
          <a:bodyPr wrap="square" lIns="0" tIns="0" rIns="0" bIns="0" rtlCol="0" anchor="ctr">
            <a:normAutofit/>
          </a:bodyPr>
          <a:lstStyle/>
          <a:p>
            <a:pPr marL="0" indent="0" algn="l">
              <a:buNone/>
            </a:pPr>
            <a:r>
              <a:rPr lang="en-US" sz="1250" dirty="0">
                <a:solidFill>
                  <a:srgbClr val="DCE5F2"/>
                </a:solidFill>
                <a:latin typeface="Calibri" pitchFamily="34" charset="0"/>
                <a:ea typeface="Calibri" pitchFamily="34" charset="-122"/>
                <a:cs typeface="Calibri" pitchFamily="34" charset="-120"/>
              </a:rPr>
              <a:t>Syntax and runtime errors</a:t>
            </a:r>
            <a:endParaRPr lang="en-US" sz="1250" dirty="0"/>
          </a:p>
        </p:txBody>
      </p:sp>
      <p:sp>
        <p:nvSpPr>
          <p:cNvPr id="12" name="Shape 10"/>
          <p:cNvSpPr/>
          <p:nvPr/>
        </p:nvSpPr>
        <p:spPr>
          <a:xfrm>
            <a:off x="868680" y="4059936"/>
            <a:ext cx="73152" cy="73152"/>
          </a:xfrm>
          <a:prstGeom prst="ellipse">
            <a:avLst/>
          </a:prstGeom>
          <a:solidFill>
            <a:srgbClr val="FF8A7A"/>
          </a:solidFill>
          <a:ln w="12700">
            <a:solidFill>
              <a:srgbClr val="FF8A7A">
                <a:alpha val="0"/>
              </a:srgbClr>
            </a:solidFill>
            <a:prstDash val="solid"/>
          </a:ln>
        </p:spPr>
      </p:sp>
      <p:sp>
        <p:nvSpPr>
          <p:cNvPr id="13" name="Text 11"/>
          <p:cNvSpPr txBox="1"/>
          <p:nvPr/>
        </p:nvSpPr>
        <p:spPr>
          <a:xfrm>
            <a:off x="1033272" y="3986784"/>
            <a:ext cx="2139696" cy="292608"/>
          </a:xfrm>
          <a:prstGeom prst="rect">
            <a:avLst/>
          </a:prstGeom>
          <a:noFill/>
          <a:ln/>
        </p:spPr>
        <p:txBody>
          <a:bodyPr wrap="square" lIns="0" tIns="0" rIns="0" bIns="0" rtlCol="0" anchor="ctr">
            <a:normAutofit/>
          </a:bodyPr>
          <a:lstStyle/>
          <a:p>
            <a:pPr marL="0" indent="0" algn="l">
              <a:buNone/>
            </a:pPr>
            <a:r>
              <a:rPr lang="en-US" sz="1250" dirty="0">
                <a:solidFill>
                  <a:srgbClr val="DCE5F2"/>
                </a:solidFill>
                <a:latin typeface="Calibri" pitchFamily="34" charset="0"/>
                <a:ea typeface="Calibri" pitchFamily="34" charset="-122"/>
                <a:cs typeface="Calibri" pitchFamily="34" charset="-120"/>
              </a:rPr>
              <a:t>Unfamiliar algorithms</a:t>
            </a:r>
            <a:endParaRPr lang="en-US" sz="1250" dirty="0"/>
          </a:p>
        </p:txBody>
      </p:sp>
      <p:sp>
        <p:nvSpPr>
          <p:cNvPr id="14" name="Shape 12"/>
          <p:cNvSpPr/>
          <p:nvPr/>
        </p:nvSpPr>
        <p:spPr>
          <a:xfrm>
            <a:off x="868680" y="4480560"/>
            <a:ext cx="73152" cy="73152"/>
          </a:xfrm>
          <a:prstGeom prst="ellipse">
            <a:avLst/>
          </a:prstGeom>
          <a:solidFill>
            <a:srgbClr val="FF8A7A"/>
          </a:solidFill>
          <a:ln w="12700">
            <a:solidFill>
              <a:srgbClr val="FF8A7A">
                <a:alpha val="0"/>
              </a:srgbClr>
            </a:solidFill>
            <a:prstDash val="solid"/>
          </a:ln>
        </p:spPr>
      </p:sp>
      <p:sp>
        <p:nvSpPr>
          <p:cNvPr id="15" name="Text 13"/>
          <p:cNvSpPr txBox="1"/>
          <p:nvPr/>
        </p:nvSpPr>
        <p:spPr>
          <a:xfrm>
            <a:off x="1033272" y="4407408"/>
            <a:ext cx="2139696" cy="292608"/>
          </a:xfrm>
          <a:prstGeom prst="rect">
            <a:avLst/>
          </a:prstGeom>
          <a:noFill/>
          <a:ln/>
        </p:spPr>
        <p:txBody>
          <a:bodyPr wrap="square" lIns="0" tIns="0" rIns="0" bIns="0" rtlCol="0" anchor="ctr">
            <a:normAutofit/>
          </a:bodyPr>
          <a:lstStyle/>
          <a:p>
            <a:pPr marL="0" indent="0" algn="l">
              <a:buNone/>
            </a:pPr>
            <a:r>
              <a:rPr lang="en-US" sz="1250" dirty="0">
                <a:solidFill>
                  <a:srgbClr val="DCE5F2"/>
                </a:solidFill>
                <a:latin typeface="Calibri" pitchFamily="34" charset="0"/>
                <a:ea typeface="Calibri" pitchFamily="34" charset="-122"/>
                <a:cs typeface="Calibri" pitchFamily="34" charset="-120"/>
              </a:rPr>
              <a:t>Long searches for examples</a:t>
            </a:r>
            <a:endParaRPr lang="en-US" sz="1250" dirty="0"/>
          </a:p>
        </p:txBody>
      </p:sp>
      <p:sp>
        <p:nvSpPr>
          <p:cNvPr id="16" name="Text 14"/>
          <p:cNvSpPr txBox="1"/>
          <p:nvPr/>
        </p:nvSpPr>
        <p:spPr>
          <a:xfrm>
            <a:off x="850392" y="5010912"/>
            <a:ext cx="2194560" cy="365760"/>
          </a:xfrm>
          <a:prstGeom prst="rect">
            <a:avLst/>
          </a:prstGeom>
          <a:noFill/>
          <a:ln/>
        </p:spPr>
        <p:txBody>
          <a:bodyPr wrap="square" lIns="0" tIns="0" rIns="0" bIns="0" rtlCol="0" anchor="t">
            <a:normAutofit/>
          </a:bodyPr>
          <a:lstStyle/>
          <a:p>
            <a:pPr marL="0" indent="0" algn="l">
              <a:buNone/>
            </a:pPr>
            <a:r>
              <a:rPr lang="en-US" sz="1050" i="1" dirty="0">
                <a:solidFill>
                  <a:srgbClr val="8EA0B8"/>
                </a:solidFill>
                <a:latin typeface="Calibri" pitchFamily="34" charset="0"/>
                <a:ea typeface="Calibri" pitchFamily="34" charset="-122"/>
                <a:cs typeface="Calibri" pitchFamily="34" charset="-120"/>
              </a:rPr>
              <a:t>A mobile workflow keeps help close to the moment of need.</a:t>
            </a:r>
            <a:endParaRPr lang="en-US" sz="1050" dirty="0"/>
          </a:p>
        </p:txBody>
      </p:sp>
      <p:sp>
        <p:nvSpPr>
          <p:cNvPr id="17" name="Shape 15"/>
          <p:cNvSpPr/>
          <p:nvPr/>
        </p:nvSpPr>
        <p:spPr>
          <a:xfrm>
            <a:off x="3639312" y="3694176"/>
            <a:ext cx="566928" cy="0"/>
          </a:xfrm>
          <a:prstGeom prst="line">
            <a:avLst/>
          </a:prstGeom>
          <a:noFill/>
          <a:ln w="29210">
            <a:solidFill>
              <a:srgbClr val="2DD4BF"/>
            </a:solidFill>
            <a:prstDash val="solid"/>
            <a:tailEnd type="triangle"/>
          </a:ln>
        </p:spPr>
      </p:sp>
      <p:sp>
        <p:nvSpPr>
          <p:cNvPr id="18" name="Text 16"/>
          <p:cNvSpPr txBox="1"/>
          <p:nvPr/>
        </p:nvSpPr>
        <p:spPr>
          <a:xfrm>
            <a:off x="3712464" y="3337560"/>
            <a:ext cx="438912" cy="182880"/>
          </a:xfrm>
          <a:prstGeom prst="rect">
            <a:avLst/>
          </a:prstGeom>
          <a:noFill/>
          <a:ln/>
        </p:spPr>
        <p:txBody>
          <a:bodyPr wrap="square" lIns="0" tIns="0" rIns="0" bIns="0" rtlCol="0" anchor="ctr">
            <a:normAutofit/>
          </a:bodyPr>
          <a:lstStyle/>
          <a:p>
            <a:pPr marL="0" indent="0" algn="ctr">
              <a:buNone/>
            </a:pPr>
            <a:r>
              <a:rPr lang="en-US" sz="800" b="1" dirty="0">
                <a:solidFill>
                  <a:srgbClr val="2DD4BF"/>
                </a:solidFill>
                <a:latin typeface="Calibri" pitchFamily="34" charset="0"/>
                <a:ea typeface="Calibri" pitchFamily="34" charset="-122"/>
                <a:cs typeface="Calibri" pitchFamily="34" charset="-120"/>
              </a:rPr>
              <a:t>TURN</a:t>
            </a:r>
            <a:endParaRPr lang="en-US" sz="800" dirty="0"/>
          </a:p>
        </p:txBody>
      </p:sp>
      <p:sp>
        <p:nvSpPr>
          <p:cNvPr id="19" name="Shape 17"/>
          <p:cNvSpPr/>
          <p:nvPr/>
        </p:nvSpPr>
        <p:spPr>
          <a:xfrm>
            <a:off x="4389120" y="2011680"/>
            <a:ext cx="7187184" cy="3566160"/>
          </a:xfrm>
          <a:prstGeom prst="roundRect">
            <a:avLst>
              <a:gd name="adj" fmla="val 4615"/>
            </a:avLst>
          </a:prstGeom>
          <a:solidFill>
            <a:srgbClr val="151C2D"/>
          </a:solidFill>
          <a:ln w="12700">
            <a:solidFill>
              <a:srgbClr val="202B42"/>
            </a:solidFill>
            <a:prstDash val="solid"/>
          </a:ln>
        </p:spPr>
      </p:sp>
      <p:sp>
        <p:nvSpPr>
          <p:cNvPr id="20" name="Shape 18"/>
          <p:cNvSpPr/>
          <p:nvPr/>
        </p:nvSpPr>
        <p:spPr>
          <a:xfrm>
            <a:off x="4663440" y="2286000"/>
            <a:ext cx="1691640" cy="256032"/>
          </a:xfrm>
          <a:prstGeom prst="roundRect">
            <a:avLst>
              <a:gd name="adj" fmla="val 42857"/>
            </a:avLst>
          </a:prstGeom>
          <a:solidFill>
            <a:srgbClr val="6D5DFB"/>
          </a:solidFill>
          <a:ln w="12700">
            <a:solidFill>
              <a:srgbClr val="6D5DFB">
                <a:alpha val="0"/>
              </a:srgbClr>
            </a:solidFill>
            <a:prstDash val="solid"/>
          </a:ln>
        </p:spPr>
      </p:sp>
      <p:sp>
        <p:nvSpPr>
          <p:cNvPr id="21" name="Text 19"/>
          <p:cNvSpPr txBox="1"/>
          <p:nvPr/>
        </p:nvSpPr>
        <p:spPr>
          <a:xfrm>
            <a:off x="4663440" y="2295144"/>
            <a:ext cx="169164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8FAFC"/>
                </a:solidFill>
                <a:latin typeface="Calibri" pitchFamily="34" charset="0"/>
                <a:ea typeface="Calibri" pitchFamily="34" charset="-122"/>
                <a:cs typeface="Calibri" pitchFamily="34" charset="-120"/>
              </a:rPr>
              <a:t>PROJECT OBJECTIVES</a:t>
            </a:r>
            <a:endParaRPr lang="en-US" sz="850" dirty="0"/>
          </a:p>
        </p:txBody>
      </p:sp>
      <p:sp>
        <p:nvSpPr>
          <p:cNvPr id="22" name="Text 20"/>
          <p:cNvSpPr txBox="1"/>
          <p:nvPr/>
        </p:nvSpPr>
        <p:spPr>
          <a:xfrm>
            <a:off x="4663440" y="2697480"/>
            <a:ext cx="6126480" cy="329184"/>
          </a:xfrm>
          <a:prstGeom prst="rect">
            <a:avLst/>
          </a:prstGeom>
          <a:noFill/>
          <a:ln/>
        </p:spPr>
        <p:txBody>
          <a:bodyPr wrap="square" lIns="0" tIns="0" rIns="0" bIns="0" rtlCol="0" anchor="ctr">
            <a:normAutofit/>
          </a:bodyPr>
          <a:lstStyle/>
          <a:p>
            <a:pPr marL="0" indent="0" algn="l">
              <a:buNone/>
            </a:pPr>
            <a:r>
              <a:rPr lang="en-US" sz="2000" b="1" dirty="0">
                <a:solidFill>
                  <a:srgbClr val="F8FAFC"/>
                </a:solidFill>
                <a:latin typeface="Calibri" pitchFamily="34" charset="0"/>
                <a:ea typeface="Calibri" pitchFamily="34" charset="-122"/>
                <a:cs typeface="Calibri" pitchFamily="34" charset="-120"/>
              </a:rPr>
              <a:t>Make coding support fast, focused, and reusable.</a:t>
            </a:r>
            <a:endParaRPr lang="en-US" sz="2000" dirty="0"/>
          </a:p>
        </p:txBody>
      </p:sp>
      <p:sp>
        <p:nvSpPr>
          <p:cNvPr id="23" name="Shape 21"/>
          <p:cNvSpPr/>
          <p:nvPr/>
        </p:nvSpPr>
        <p:spPr>
          <a:xfrm>
            <a:off x="4663440" y="3429000"/>
            <a:ext cx="347472" cy="347472"/>
          </a:xfrm>
          <a:prstGeom prst="ellipse">
            <a:avLst/>
          </a:prstGeom>
          <a:solidFill>
            <a:srgbClr val="6D5DFB"/>
          </a:solidFill>
          <a:ln w="12700">
            <a:solidFill>
              <a:srgbClr val="6D5DFB">
                <a:alpha val="0"/>
              </a:srgbClr>
            </a:solidFill>
            <a:prstDash val="solid"/>
          </a:ln>
        </p:spPr>
      </p:sp>
      <p:sp>
        <p:nvSpPr>
          <p:cNvPr id="24" name="Text 22"/>
          <p:cNvSpPr txBox="1"/>
          <p:nvPr/>
        </p:nvSpPr>
        <p:spPr>
          <a:xfrm>
            <a:off x="4663440" y="3474720"/>
            <a:ext cx="347472" cy="164592"/>
          </a:xfrm>
          <a:prstGeom prst="rect">
            <a:avLst/>
          </a:prstGeom>
          <a:noFill/>
          <a:ln/>
        </p:spPr>
        <p:txBody>
          <a:bodyPr wrap="square" lIns="0" tIns="0" rIns="0" bIns="0" rtlCol="0" anchor="ctr">
            <a:normAutofit/>
          </a:bodyPr>
          <a:lstStyle/>
          <a:p>
            <a:pPr marL="0" indent="0" algn="ctr">
              <a:buNone/>
            </a:pPr>
            <a:r>
              <a:rPr lang="en-US" sz="800" b="1" dirty="0">
                <a:solidFill>
                  <a:srgbClr val="F8FAFC"/>
                </a:solidFill>
                <a:latin typeface="Courier New" pitchFamily="34" charset="0"/>
                <a:ea typeface="Courier New" pitchFamily="34" charset="-122"/>
                <a:cs typeface="Courier New" pitchFamily="34" charset="-120"/>
              </a:rPr>
              <a:t>01</a:t>
            </a:r>
            <a:endParaRPr lang="en-US" sz="800" dirty="0"/>
          </a:p>
        </p:txBody>
      </p:sp>
      <p:sp>
        <p:nvSpPr>
          <p:cNvPr id="25" name="Text 23"/>
          <p:cNvSpPr txBox="1"/>
          <p:nvPr/>
        </p:nvSpPr>
        <p:spPr>
          <a:xfrm>
            <a:off x="5157216" y="3401568"/>
            <a:ext cx="2468880" cy="201168"/>
          </a:xfrm>
          <a:prstGeom prst="rect">
            <a:avLst/>
          </a:prstGeom>
          <a:noFill/>
          <a:ln/>
        </p:spPr>
        <p:txBody>
          <a:bodyPr wrap="square" lIns="0" tIns="0" rIns="0" bIns="0" rtlCol="0" anchor="ctr">
            <a:normAutofit/>
          </a:bodyPr>
          <a:lstStyle/>
          <a:p>
            <a:pPr marL="0" indent="0" algn="l">
              <a:buNone/>
            </a:pPr>
            <a:r>
              <a:rPr lang="en-US" sz="1300" b="1" dirty="0">
                <a:solidFill>
                  <a:srgbClr val="F8FAFC"/>
                </a:solidFill>
                <a:latin typeface="Calibri" pitchFamily="34" charset="0"/>
                <a:ea typeface="Calibri" pitchFamily="34" charset="-122"/>
                <a:cs typeface="Calibri" pitchFamily="34" charset="-120"/>
              </a:rPr>
              <a:t>Accessible</a:t>
            </a:r>
            <a:endParaRPr lang="en-US" sz="1300" dirty="0"/>
          </a:p>
        </p:txBody>
      </p:sp>
      <p:sp>
        <p:nvSpPr>
          <p:cNvPr id="26" name="Text 24"/>
          <p:cNvSpPr txBox="1"/>
          <p:nvPr/>
        </p:nvSpPr>
        <p:spPr>
          <a:xfrm>
            <a:off x="5157216" y="3675888"/>
            <a:ext cx="2542032" cy="347472"/>
          </a:xfrm>
          <a:prstGeom prst="rect">
            <a:avLst/>
          </a:prstGeom>
          <a:noFill/>
          <a:ln/>
        </p:spPr>
        <p:txBody>
          <a:bodyPr wrap="square" lIns="0" tIns="0" rIns="0" bIns="0" rtlCol="0" anchor="t">
            <a:normAutofit/>
          </a:bodyPr>
          <a:lstStyle/>
          <a:p>
            <a:pPr marL="0" indent="0" algn="l">
              <a:buNone/>
            </a:pPr>
            <a:r>
              <a:rPr lang="en-US" sz="1020" dirty="0">
                <a:solidFill>
                  <a:srgbClr val="8EA0B8"/>
                </a:solidFill>
                <a:latin typeface="Calibri" pitchFamily="34" charset="0"/>
                <a:ea typeface="Calibri" pitchFamily="34" charset="-122"/>
                <a:cs typeface="Calibri" pitchFamily="34" charset="-120"/>
              </a:rPr>
              <a:t>Bring programming help to an Android phone.</a:t>
            </a:r>
            <a:endParaRPr lang="en-US" sz="1020" dirty="0"/>
          </a:p>
        </p:txBody>
      </p:sp>
      <p:sp>
        <p:nvSpPr>
          <p:cNvPr id="27" name="Shape 25"/>
          <p:cNvSpPr/>
          <p:nvPr/>
        </p:nvSpPr>
        <p:spPr>
          <a:xfrm>
            <a:off x="8001000" y="3429000"/>
            <a:ext cx="347472" cy="347472"/>
          </a:xfrm>
          <a:prstGeom prst="ellipse">
            <a:avLst/>
          </a:prstGeom>
          <a:solidFill>
            <a:srgbClr val="0F766E"/>
          </a:solidFill>
          <a:ln w="12700">
            <a:solidFill>
              <a:srgbClr val="0F766E">
                <a:alpha val="0"/>
              </a:srgbClr>
            </a:solidFill>
            <a:prstDash val="solid"/>
          </a:ln>
        </p:spPr>
      </p:sp>
      <p:sp>
        <p:nvSpPr>
          <p:cNvPr id="28" name="Text 26"/>
          <p:cNvSpPr txBox="1"/>
          <p:nvPr/>
        </p:nvSpPr>
        <p:spPr>
          <a:xfrm>
            <a:off x="8001000" y="3474720"/>
            <a:ext cx="347472" cy="164592"/>
          </a:xfrm>
          <a:prstGeom prst="rect">
            <a:avLst/>
          </a:prstGeom>
          <a:noFill/>
          <a:ln/>
        </p:spPr>
        <p:txBody>
          <a:bodyPr wrap="square" lIns="0" tIns="0" rIns="0" bIns="0" rtlCol="0" anchor="ctr">
            <a:normAutofit/>
          </a:bodyPr>
          <a:lstStyle/>
          <a:p>
            <a:pPr marL="0" indent="0" algn="ctr">
              <a:buNone/>
            </a:pPr>
            <a:r>
              <a:rPr lang="en-US" sz="800" b="1" dirty="0">
                <a:solidFill>
                  <a:srgbClr val="F8FAFC"/>
                </a:solidFill>
                <a:latin typeface="Courier New" pitchFamily="34" charset="0"/>
                <a:ea typeface="Courier New" pitchFamily="34" charset="-122"/>
                <a:cs typeface="Courier New" pitchFamily="34" charset="-120"/>
              </a:rPr>
              <a:t>02</a:t>
            </a:r>
            <a:endParaRPr lang="en-US" sz="800" dirty="0"/>
          </a:p>
        </p:txBody>
      </p:sp>
      <p:sp>
        <p:nvSpPr>
          <p:cNvPr id="29" name="Text 27"/>
          <p:cNvSpPr txBox="1"/>
          <p:nvPr/>
        </p:nvSpPr>
        <p:spPr>
          <a:xfrm>
            <a:off x="8494776" y="3401568"/>
            <a:ext cx="2468880" cy="201168"/>
          </a:xfrm>
          <a:prstGeom prst="rect">
            <a:avLst/>
          </a:prstGeom>
          <a:noFill/>
          <a:ln/>
        </p:spPr>
        <p:txBody>
          <a:bodyPr wrap="square" lIns="0" tIns="0" rIns="0" bIns="0" rtlCol="0" anchor="ctr">
            <a:normAutofit/>
          </a:bodyPr>
          <a:lstStyle/>
          <a:p>
            <a:pPr marL="0" indent="0" algn="l">
              <a:buNone/>
            </a:pPr>
            <a:r>
              <a:rPr lang="en-US" sz="1300" b="1" dirty="0">
                <a:solidFill>
                  <a:srgbClr val="F8FAFC"/>
                </a:solidFill>
                <a:latin typeface="Calibri" pitchFamily="34" charset="0"/>
                <a:ea typeface="Calibri" pitchFamily="34" charset="-122"/>
                <a:cs typeface="Calibri" pitchFamily="34" charset="-120"/>
              </a:rPr>
              <a:t>Contextual</a:t>
            </a:r>
            <a:endParaRPr lang="en-US" sz="1300" dirty="0"/>
          </a:p>
        </p:txBody>
      </p:sp>
      <p:sp>
        <p:nvSpPr>
          <p:cNvPr id="30" name="Text 28"/>
          <p:cNvSpPr txBox="1"/>
          <p:nvPr/>
        </p:nvSpPr>
        <p:spPr>
          <a:xfrm>
            <a:off x="8494776" y="3675888"/>
            <a:ext cx="2542032" cy="347472"/>
          </a:xfrm>
          <a:prstGeom prst="rect">
            <a:avLst/>
          </a:prstGeom>
          <a:noFill/>
          <a:ln/>
        </p:spPr>
        <p:txBody>
          <a:bodyPr wrap="square" lIns="0" tIns="0" rIns="0" bIns="0" rtlCol="0" anchor="t">
            <a:normAutofit/>
          </a:bodyPr>
          <a:lstStyle/>
          <a:p>
            <a:pPr marL="0" indent="0" algn="l">
              <a:buNone/>
            </a:pPr>
            <a:r>
              <a:rPr lang="en-US" sz="1020" dirty="0">
                <a:solidFill>
                  <a:srgbClr val="8EA0B8"/>
                </a:solidFill>
                <a:latin typeface="Calibri" pitchFamily="34" charset="0"/>
                <a:ea typeface="Calibri" pitchFamily="34" charset="-122"/>
                <a:cs typeface="Calibri" pitchFamily="34" charset="-120"/>
              </a:rPr>
              <a:t>Keep recent messages for meaningful follow-ups.</a:t>
            </a:r>
            <a:endParaRPr lang="en-US" sz="1020" dirty="0"/>
          </a:p>
        </p:txBody>
      </p:sp>
      <p:sp>
        <p:nvSpPr>
          <p:cNvPr id="31" name="Shape 29"/>
          <p:cNvSpPr/>
          <p:nvPr/>
        </p:nvSpPr>
        <p:spPr>
          <a:xfrm>
            <a:off x="4663440" y="4361688"/>
            <a:ext cx="347472" cy="347472"/>
          </a:xfrm>
          <a:prstGeom prst="ellipse">
            <a:avLst/>
          </a:prstGeom>
          <a:solidFill>
            <a:srgbClr val="6D5DFB"/>
          </a:solidFill>
          <a:ln w="12700">
            <a:solidFill>
              <a:srgbClr val="6D5DFB">
                <a:alpha val="0"/>
              </a:srgbClr>
            </a:solidFill>
            <a:prstDash val="solid"/>
          </a:ln>
        </p:spPr>
      </p:sp>
      <p:sp>
        <p:nvSpPr>
          <p:cNvPr id="32" name="Text 30"/>
          <p:cNvSpPr txBox="1"/>
          <p:nvPr/>
        </p:nvSpPr>
        <p:spPr>
          <a:xfrm>
            <a:off x="4663440" y="4407408"/>
            <a:ext cx="347472" cy="164592"/>
          </a:xfrm>
          <a:prstGeom prst="rect">
            <a:avLst/>
          </a:prstGeom>
          <a:noFill/>
          <a:ln/>
        </p:spPr>
        <p:txBody>
          <a:bodyPr wrap="square" lIns="0" tIns="0" rIns="0" bIns="0" rtlCol="0" anchor="ctr">
            <a:normAutofit/>
          </a:bodyPr>
          <a:lstStyle/>
          <a:p>
            <a:pPr marL="0" indent="0" algn="ctr">
              <a:buNone/>
            </a:pPr>
            <a:r>
              <a:rPr lang="en-US" sz="800" b="1" dirty="0">
                <a:solidFill>
                  <a:srgbClr val="F8FAFC"/>
                </a:solidFill>
                <a:latin typeface="Courier New" pitchFamily="34" charset="0"/>
                <a:ea typeface="Courier New" pitchFamily="34" charset="-122"/>
                <a:cs typeface="Courier New" pitchFamily="34" charset="-120"/>
              </a:rPr>
              <a:t>03</a:t>
            </a:r>
            <a:endParaRPr lang="en-US" sz="800" dirty="0"/>
          </a:p>
        </p:txBody>
      </p:sp>
      <p:sp>
        <p:nvSpPr>
          <p:cNvPr id="33" name="Text 31"/>
          <p:cNvSpPr txBox="1"/>
          <p:nvPr/>
        </p:nvSpPr>
        <p:spPr>
          <a:xfrm>
            <a:off x="5157216" y="4334256"/>
            <a:ext cx="2468880" cy="201168"/>
          </a:xfrm>
          <a:prstGeom prst="rect">
            <a:avLst/>
          </a:prstGeom>
          <a:noFill/>
          <a:ln/>
        </p:spPr>
        <p:txBody>
          <a:bodyPr wrap="square" lIns="0" tIns="0" rIns="0" bIns="0" rtlCol="0" anchor="ctr">
            <a:normAutofit/>
          </a:bodyPr>
          <a:lstStyle/>
          <a:p>
            <a:pPr marL="0" indent="0" algn="l">
              <a:buNone/>
            </a:pPr>
            <a:r>
              <a:rPr lang="en-US" sz="1300" b="1" dirty="0">
                <a:solidFill>
                  <a:srgbClr val="F8FAFC"/>
                </a:solidFill>
                <a:latin typeface="Calibri" pitchFamily="34" charset="0"/>
                <a:ea typeface="Calibri" pitchFamily="34" charset="-122"/>
                <a:cs typeface="Calibri" pitchFamily="34" charset="-120"/>
              </a:rPr>
              <a:t>Practical</a:t>
            </a:r>
            <a:endParaRPr lang="en-US" sz="1300" dirty="0"/>
          </a:p>
        </p:txBody>
      </p:sp>
      <p:sp>
        <p:nvSpPr>
          <p:cNvPr id="34" name="Text 32"/>
          <p:cNvSpPr txBox="1"/>
          <p:nvPr/>
        </p:nvSpPr>
        <p:spPr>
          <a:xfrm>
            <a:off x="5157216" y="4608576"/>
            <a:ext cx="2542032" cy="347472"/>
          </a:xfrm>
          <a:prstGeom prst="rect">
            <a:avLst/>
          </a:prstGeom>
          <a:noFill/>
          <a:ln/>
        </p:spPr>
        <p:txBody>
          <a:bodyPr wrap="square" lIns="0" tIns="0" rIns="0" bIns="0" rtlCol="0" anchor="t">
            <a:normAutofit/>
          </a:bodyPr>
          <a:lstStyle/>
          <a:p>
            <a:pPr marL="0" indent="0" algn="l">
              <a:buNone/>
            </a:pPr>
            <a:r>
              <a:rPr lang="en-US" sz="1020" dirty="0">
                <a:solidFill>
                  <a:srgbClr val="8EA0B8"/>
                </a:solidFill>
                <a:latin typeface="Calibri" pitchFamily="34" charset="0"/>
                <a:ea typeface="Calibri" pitchFamily="34" charset="-122"/>
                <a:cs typeface="Calibri" pitchFamily="34" charset="-120"/>
              </a:rPr>
              <a:t>Return usable code with explanations and formatting.</a:t>
            </a:r>
            <a:endParaRPr lang="en-US" sz="1020" dirty="0"/>
          </a:p>
        </p:txBody>
      </p:sp>
      <p:sp>
        <p:nvSpPr>
          <p:cNvPr id="35" name="Shape 33"/>
          <p:cNvSpPr/>
          <p:nvPr/>
        </p:nvSpPr>
        <p:spPr>
          <a:xfrm>
            <a:off x="8001000" y="4361688"/>
            <a:ext cx="347472" cy="347472"/>
          </a:xfrm>
          <a:prstGeom prst="ellipse">
            <a:avLst/>
          </a:prstGeom>
          <a:solidFill>
            <a:srgbClr val="6D5DFB"/>
          </a:solidFill>
          <a:ln w="12700">
            <a:solidFill>
              <a:srgbClr val="6D5DFB">
                <a:alpha val="0"/>
              </a:srgbClr>
            </a:solidFill>
            <a:prstDash val="solid"/>
          </a:ln>
        </p:spPr>
      </p:sp>
      <p:sp>
        <p:nvSpPr>
          <p:cNvPr id="36" name="Text 34"/>
          <p:cNvSpPr txBox="1"/>
          <p:nvPr/>
        </p:nvSpPr>
        <p:spPr>
          <a:xfrm>
            <a:off x="8001000" y="4407408"/>
            <a:ext cx="347472" cy="164592"/>
          </a:xfrm>
          <a:prstGeom prst="rect">
            <a:avLst/>
          </a:prstGeom>
          <a:noFill/>
          <a:ln/>
        </p:spPr>
        <p:txBody>
          <a:bodyPr wrap="square" lIns="0" tIns="0" rIns="0" bIns="0" rtlCol="0" anchor="ctr">
            <a:normAutofit/>
          </a:bodyPr>
          <a:lstStyle/>
          <a:p>
            <a:pPr marL="0" indent="0" algn="ctr">
              <a:buNone/>
            </a:pPr>
            <a:r>
              <a:rPr lang="en-US" sz="800" b="1" dirty="0">
                <a:solidFill>
                  <a:srgbClr val="F8FAFC"/>
                </a:solidFill>
                <a:latin typeface="Courier New" pitchFamily="34" charset="0"/>
                <a:ea typeface="Courier New" pitchFamily="34" charset="-122"/>
                <a:cs typeface="Courier New" pitchFamily="34" charset="-120"/>
              </a:rPr>
              <a:t>04</a:t>
            </a:r>
            <a:endParaRPr lang="en-US" sz="800" dirty="0"/>
          </a:p>
        </p:txBody>
      </p:sp>
      <p:sp>
        <p:nvSpPr>
          <p:cNvPr id="37" name="Text 35"/>
          <p:cNvSpPr txBox="1"/>
          <p:nvPr/>
        </p:nvSpPr>
        <p:spPr>
          <a:xfrm>
            <a:off x="8494776" y="4334256"/>
            <a:ext cx="2468880" cy="201168"/>
          </a:xfrm>
          <a:prstGeom prst="rect">
            <a:avLst/>
          </a:prstGeom>
          <a:noFill/>
          <a:ln/>
        </p:spPr>
        <p:txBody>
          <a:bodyPr wrap="square" lIns="0" tIns="0" rIns="0" bIns="0" rtlCol="0" anchor="ctr">
            <a:normAutofit/>
          </a:bodyPr>
          <a:lstStyle/>
          <a:p>
            <a:pPr marL="0" indent="0" algn="l">
              <a:buNone/>
            </a:pPr>
            <a:r>
              <a:rPr lang="en-US" sz="1300" b="1" dirty="0">
                <a:solidFill>
                  <a:srgbClr val="F8FAFC"/>
                </a:solidFill>
                <a:latin typeface="Calibri" pitchFamily="34" charset="0"/>
                <a:ea typeface="Calibri" pitchFamily="34" charset="-122"/>
                <a:cs typeface="Calibri" pitchFamily="34" charset="-120"/>
              </a:rPr>
              <a:t>Persistent</a:t>
            </a:r>
            <a:endParaRPr lang="en-US" sz="1300" dirty="0"/>
          </a:p>
        </p:txBody>
      </p:sp>
      <p:sp>
        <p:nvSpPr>
          <p:cNvPr id="38" name="Text 36"/>
          <p:cNvSpPr txBox="1"/>
          <p:nvPr/>
        </p:nvSpPr>
        <p:spPr>
          <a:xfrm>
            <a:off x="8494776" y="4608576"/>
            <a:ext cx="2542032" cy="347472"/>
          </a:xfrm>
          <a:prstGeom prst="rect">
            <a:avLst/>
          </a:prstGeom>
          <a:noFill/>
          <a:ln/>
        </p:spPr>
        <p:txBody>
          <a:bodyPr wrap="square" lIns="0" tIns="0" rIns="0" bIns="0" rtlCol="0" anchor="t">
            <a:normAutofit/>
          </a:bodyPr>
          <a:lstStyle/>
          <a:p>
            <a:pPr marL="0" indent="0" algn="l">
              <a:buNone/>
            </a:pPr>
            <a:r>
              <a:rPr lang="en-US" sz="1020" dirty="0">
                <a:solidFill>
                  <a:srgbClr val="8EA0B8"/>
                </a:solidFill>
                <a:latin typeface="Calibri" pitchFamily="34" charset="0"/>
                <a:ea typeface="Calibri" pitchFamily="34" charset="-122"/>
                <a:cs typeface="Calibri" pitchFamily="34" charset="-120"/>
              </a:rPr>
              <a:t>Save conversations so users can return to them later.</a:t>
            </a:r>
            <a:endParaRPr lang="en-US" sz="1020" dirty="0"/>
          </a:p>
        </p:txBody>
      </p:sp>
      <p:sp>
        <p:nvSpPr>
          <p:cNvPr id="39" name="Text 37"/>
          <p:cNvSpPr txBox="1"/>
          <p:nvPr/>
        </p:nvSpPr>
        <p:spPr>
          <a:xfrm>
            <a:off x="11228832" y="6473952"/>
            <a:ext cx="365760" cy="164592"/>
          </a:xfrm>
          <a:prstGeom prst="rect">
            <a:avLst/>
          </a:prstGeom>
          <a:noFill/>
          <a:ln/>
        </p:spPr>
        <p:txBody>
          <a:bodyPr wrap="square" lIns="0" tIns="0" rIns="0" bIns="0" rtlCol="0" anchor="ctr">
            <a:normAutofit/>
          </a:bodyPr>
          <a:lstStyle/>
          <a:p>
            <a:pPr marL="0" indent="0" algn="r">
              <a:buNone/>
            </a:pPr>
            <a:r>
              <a:rPr lang="en-US" sz="900" b="1" dirty="0">
                <a:solidFill>
                  <a:srgbClr val="56657D"/>
                </a:solidFill>
                <a:latin typeface="Calibri" pitchFamily="34" charset="0"/>
                <a:ea typeface="Calibri" pitchFamily="34" charset="-122"/>
                <a:cs typeface="Calibri" pitchFamily="34" charset="-120"/>
              </a:rPr>
              <a:t>02</a:t>
            </a:r>
            <a:endParaRPr lang="en-US" sz="900" dirty="0"/>
          </a:p>
        </p:txBody>
      </p:sp>
      <p:sp>
        <p:nvSpPr>
          <p:cNvPr id="40" name="Text 38"/>
          <p:cNvSpPr txBox="1"/>
          <p:nvPr/>
        </p:nvSpPr>
        <p:spPr>
          <a:xfrm>
            <a:off x="566928" y="6473952"/>
            <a:ext cx="2011680" cy="164592"/>
          </a:xfrm>
          <a:prstGeom prst="rect">
            <a:avLst/>
          </a:prstGeom>
          <a:noFill/>
          <a:ln/>
        </p:spPr>
        <p:txBody>
          <a:bodyPr wrap="square" lIns="0" tIns="0" rIns="0" bIns="0" rtlCol="0" anchor="ctr">
            <a:normAutofit/>
          </a:bodyPr>
          <a:lstStyle/>
          <a:p>
            <a:pPr marL="0" indent="0" algn="l">
              <a:buNone/>
            </a:pPr>
            <a:r>
              <a:rPr lang="en-US" sz="800" b="1" kern="0" spc="110" dirty="0">
                <a:solidFill>
                  <a:srgbClr val="56657D"/>
                </a:solidFill>
                <a:latin typeface="Calibri" pitchFamily="34" charset="0"/>
                <a:ea typeface="Calibri" pitchFamily="34" charset="-122"/>
                <a:cs typeface="Calibri" pitchFamily="34" charset="-120"/>
              </a:rPr>
              <a:t>OBJECTIVES</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522"/>
        </a:solidFill>
        <a:effectLst/>
      </p:bgPr>
    </p:bg>
    <p:spTree>
      <p:nvGrpSpPr>
        <p:cNvPr id="1" name=""/>
        <p:cNvGrpSpPr/>
        <p:nvPr/>
      </p:nvGrpSpPr>
      <p:grpSpPr>
        <a:xfrm>
          <a:off x="0" y="0"/>
          <a:ext cx="0" cy="0"/>
          <a:chOff x="0" y="0"/>
          <a:chExt cx="0" cy="0"/>
        </a:xfrm>
      </p:grpSpPr>
      <p:sp>
        <p:nvSpPr>
          <p:cNvPr id="2" name="Shape 0"/>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3" name="Text 1"/>
          <p:cNvSpPr txBox="1"/>
          <p:nvPr/>
        </p:nvSpPr>
        <p:spPr>
          <a:xfrm>
            <a:off x="566928" y="448056"/>
            <a:ext cx="132588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02 / WHAT IT DOES</a:t>
            </a:r>
            <a:endParaRPr lang="en-US" sz="850" dirty="0"/>
          </a:p>
        </p:txBody>
      </p:sp>
      <p:sp>
        <p:nvSpPr>
          <p:cNvPr id="4" name="Text 2"/>
          <p:cNvSpPr txBox="1"/>
          <p:nvPr/>
        </p:nvSpPr>
        <p:spPr>
          <a:xfrm>
            <a:off x="566928" y="841248"/>
            <a:ext cx="7955280" cy="512064"/>
          </a:xfrm>
          <a:prstGeom prst="rect">
            <a:avLst/>
          </a:prstGeom>
          <a:noFill/>
          <a:ln/>
        </p:spPr>
        <p:txBody>
          <a:bodyPr wrap="square" lIns="0" tIns="0" rIns="0" bIns="0" rtlCol="0" anchor="ctr">
            <a:normAutofit/>
          </a:bodyPr>
          <a:lstStyle/>
          <a:p>
            <a:pPr marL="0" indent="0" algn="l">
              <a:buNone/>
            </a:pPr>
            <a:r>
              <a:rPr lang="en-US" sz="2900" b="1" dirty="0">
                <a:solidFill>
                  <a:srgbClr val="F8FAFC"/>
                </a:solidFill>
                <a:latin typeface="Cambria" pitchFamily="34" charset="0"/>
                <a:ea typeface="Cambria" pitchFamily="34" charset="-122"/>
                <a:cs typeface="Cambria" pitchFamily="34" charset="-120"/>
              </a:rPr>
              <a:t>One chat, several coding workflows.</a:t>
            </a:r>
            <a:endParaRPr lang="en-US" sz="2900" dirty="0"/>
          </a:p>
        </p:txBody>
      </p:sp>
      <p:sp>
        <p:nvSpPr>
          <p:cNvPr id="5" name="Text 3"/>
          <p:cNvSpPr txBox="1"/>
          <p:nvPr/>
        </p:nvSpPr>
        <p:spPr>
          <a:xfrm>
            <a:off x="585216" y="1426464"/>
            <a:ext cx="8412480" cy="292608"/>
          </a:xfrm>
          <a:prstGeom prst="rect">
            <a:avLst/>
          </a:prstGeom>
          <a:noFill/>
          <a:ln/>
        </p:spPr>
        <p:txBody>
          <a:bodyPr wrap="square" lIns="0" tIns="0" rIns="0" bIns="0" rtlCol="0" anchor="ctr">
            <a:normAutofit/>
          </a:bodyPr>
          <a:lstStyle/>
          <a:p>
            <a:pPr marL="0" indent="0" algn="l">
              <a:buNone/>
            </a:pPr>
            <a:r>
              <a:rPr lang="en-US" sz="1350" dirty="0">
                <a:solidFill>
                  <a:srgbClr val="8EA0B8"/>
                </a:solidFill>
                <a:latin typeface="Calibri" pitchFamily="34" charset="0"/>
                <a:ea typeface="Calibri" pitchFamily="34" charset="-122"/>
                <a:cs typeface="Calibri" pitchFamily="34" charset="-120"/>
              </a:rPr>
              <a:t>Users can move from a prompt to a formatted answer, then continue with a context-aware follow-up.</a:t>
            </a:r>
            <a:endParaRPr lang="en-US" sz="1350" dirty="0"/>
          </a:p>
        </p:txBody>
      </p:sp>
      <p:sp>
        <p:nvSpPr>
          <p:cNvPr id="6" name="Shape 4"/>
          <p:cNvSpPr/>
          <p:nvPr/>
        </p:nvSpPr>
        <p:spPr>
          <a:xfrm>
            <a:off x="594360" y="2011680"/>
            <a:ext cx="2468880" cy="1389888"/>
          </a:xfrm>
          <a:prstGeom prst="roundRect">
            <a:avLst>
              <a:gd name="adj" fmla="val 10526"/>
            </a:avLst>
          </a:prstGeom>
          <a:solidFill>
            <a:srgbClr val="1B2437"/>
          </a:solidFill>
          <a:ln w="12700">
            <a:solidFill>
              <a:srgbClr val="1B2437">
                <a:alpha val="0"/>
              </a:srgbClr>
            </a:solidFill>
            <a:prstDash val="solid"/>
          </a:ln>
        </p:spPr>
      </p:sp>
      <p:sp>
        <p:nvSpPr>
          <p:cNvPr id="7" name="Shape 5"/>
          <p:cNvSpPr/>
          <p:nvPr/>
        </p:nvSpPr>
        <p:spPr>
          <a:xfrm>
            <a:off x="795528" y="2212848"/>
            <a:ext cx="347472" cy="347472"/>
          </a:xfrm>
          <a:prstGeom prst="ellipse">
            <a:avLst/>
          </a:prstGeom>
          <a:solidFill>
            <a:srgbClr val="6D5DFB"/>
          </a:solidFill>
          <a:ln w="12700">
            <a:solidFill>
              <a:srgbClr val="6D5DFB">
                <a:alpha val="0"/>
              </a:srgbClr>
            </a:solidFill>
            <a:prstDash val="solid"/>
          </a:ln>
        </p:spPr>
      </p:sp>
      <p:sp>
        <p:nvSpPr>
          <p:cNvPr id="8" name="Text 6"/>
          <p:cNvSpPr txBox="1"/>
          <p:nvPr/>
        </p:nvSpPr>
        <p:spPr>
          <a:xfrm>
            <a:off x="795528" y="2217420"/>
            <a:ext cx="347472" cy="338328"/>
          </a:xfrm>
          <a:prstGeom prst="rect">
            <a:avLst/>
          </a:prstGeom>
          <a:noFill/>
          <a:ln/>
        </p:spPr>
        <p:txBody>
          <a:bodyPr wrap="square" lIns="0" tIns="0" rIns="0" bIns="0" rtlCol="0" anchor="ctr">
            <a:normAutofit/>
          </a:bodyPr>
          <a:lstStyle/>
          <a:p>
            <a:pPr marL="0" indent="0" algn="ctr">
              <a:buNone/>
            </a:pPr>
            <a:r>
              <a:rPr lang="en-US" sz="1400" b="1" dirty="0">
                <a:solidFill>
                  <a:srgbClr val="F8FAFC"/>
                </a:solidFill>
                <a:latin typeface="Courier New" pitchFamily="34" charset="0"/>
                <a:ea typeface="Courier New" pitchFamily="34" charset="-122"/>
                <a:cs typeface="Courier New" pitchFamily="34" charset="-120"/>
              </a:rPr>
              <a:t>&lt;&gt;</a:t>
            </a:r>
            <a:endParaRPr lang="en-US" sz="1400" dirty="0"/>
          </a:p>
        </p:txBody>
      </p:sp>
      <p:sp>
        <p:nvSpPr>
          <p:cNvPr id="9" name="Text 7"/>
          <p:cNvSpPr txBox="1"/>
          <p:nvPr/>
        </p:nvSpPr>
        <p:spPr>
          <a:xfrm>
            <a:off x="1271016" y="2212848"/>
            <a:ext cx="1609344" cy="246888"/>
          </a:xfrm>
          <a:prstGeom prst="rect">
            <a:avLst/>
          </a:prstGeom>
          <a:noFill/>
          <a:ln/>
        </p:spPr>
        <p:txBody>
          <a:bodyPr wrap="square" lIns="0" tIns="0" rIns="0" bIns="0" rtlCol="0" anchor="ctr">
            <a:normAutofit/>
          </a:bodyPr>
          <a:lstStyle/>
          <a:p>
            <a:pPr marL="0" indent="0" algn="l">
              <a:buNone/>
            </a:pPr>
            <a:r>
              <a:rPr lang="en-US" sz="1400" b="1" dirty="0">
                <a:solidFill>
                  <a:srgbClr val="F8FAFC"/>
                </a:solidFill>
                <a:latin typeface="Calibri" pitchFamily="34" charset="0"/>
                <a:ea typeface="Calibri" pitchFamily="34" charset="-122"/>
                <a:cs typeface="Calibri" pitchFamily="34" charset="-120"/>
              </a:rPr>
              <a:t>Generate</a:t>
            </a:r>
            <a:endParaRPr lang="en-US" sz="1400" dirty="0"/>
          </a:p>
        </p:txBody>
      </p:sp>
      <p:sp>
        <p:nvSpPr>
          <p:cNvPr id="10" name="Text 8"/>
          <p:cNvSpPr txBox="1"/>
          <p:nvPr/>
        </p:nvSpPr>
        <p:spPr>
          <a:xfrm>
            <a:off x="795528" y="2615184"/>
            <a:ext cx="2066544" cy="676656"/>
          </a:xfrm>
          <a:prstGeom prst="rect">
            <a:avLst/>
          </a:prstGeom>
          <a:noFill/>
          <a:ln/>
        </p:spPr>
        <p:txBody>
          <a:bodyPr wrap="square" lIns="0" tIns="0" rIns="0" bIns="0" rtlCol="0" anchor="t">
            <a:normAutofit/>
          </a:bodyPr>
          <a:lstStyle/>
          <a:p>
            <a:pPr marL="0" indent="0" algn="l">
              <a:buNone/>
            </a:pPr>
            <a:r>
              <a:rPr lang="en-US" sz="1070" dirty="0">
                <a:solidFill>
                  <a:srgbClr val="8EA0B8"/>
                </a:solidFill>
                <a:latin typeface="Calibri" pitchFamily="34" charset="0"/>
                <a:ea typeface="Calibri" pitchFamily="34" charset="-122"/>
                <a:cs typeface="Calibri" pitchFamily="34" charset="-120"/>
              </a:rPr>
              <a:t>Create programs, algorithms, and examples in the requested language.</a:t>
            </a:r>
            <a:endParaRPr lang="en-US" sz="1070" dirty="0"/>
          </a:p>
        </p:txBody>
      </p:sp>
      <p:sp>
        <p:nvSpPr>
          <p:cNvPr id="11" name="Shape 9"/>
          <p:cNvSpPr/>
          <p:nvPr/>
        </p:nvSpPr>
        <p:spPr>
          <a:xfrm>
            <a:off x="3246120" y="2011680"/>
            <a:ext cx="2468880" cy="1389888"/>
          </a:xfrm>
          <a:prstGeom prst="roundRect">
            <a:avLst>
              <a:gd name="adj" fmla="val 10526"/>
            </a:avLst>
          </a:prstGeom>
          <a:solidFill>
            <a:srgbClr val="1B2437"/>
          </a:solidFill>
          <a:ln w="12700">
            <a:solidFill>
              <a:srgbClr val="1B2437">
                <a:alpha val="0"/>
              </a:srgbClr>
            </a:solidFill>
            <a:prstDash val="solid"/>
          </a:ln>
        </p:spPr>
      </p:sp>
      <p:sp>
        <p:nvSpPr>
          <p:cNvPr id="12" name="Shape 10"/>
          <p:cNvSpPr/>
          <p:nvPr/>
        </p:nvSpPr>
        <p:spPr>
          <a:xfrm>
            <a:off x="3447288" y="2212848"/>
            <a:ext cx="347472" cy="347472"/>
          </a:xfrm>
          <a:prstGeom prst="ellipse">
            <a:avLst/>
          </a:prstGeom>
          <a:solidFill>
            <a:srgbClr val="0F766E"/>
          </a:solidFill>
          <a:ln w="12700">
            <a:solidFill>
              <a:srgbClr val="0F766E">
                <a:alpha val="0"/>
              </a:srgbClr>
            </a:solidFill>
            <a:prstDash val="solid"/>
          </a:ln>
        </p:spPr>
      </p:sp>
      <p:sp>
        <p:nvSpPr>
          <p:cNvPr id="13" name="Text 11"/>
          <p:cNvSpPr txBox="1"/>
          <p:nvPr/>
        </p:nvSpPr>
        <p:spPr>
          <a:xfrm>
            <a:off x="3447288" y="2217420"/>
            <a:ext cx="347472" cy="338328"/>
          </a:xfrm>
          <a:prstGeom prst="rect">
            <a:avLst/>
          </a:prstGeom>
          <a:noFill/>
          <a:ln/>
        </p:spPr>
        <p:txBody>
          <a:bodyPr wrap="square" lIns="0" tIns="0" rIns="0" bIns="0" rtlCol="0" anchor="ctr">
            <a:normAutofit/>
          </a:bodyPr>
          <a:lstStyle/>
          <a:p>
            <a:pPr marL="0" indent="0" algn="ctr">
              <a:buNone/>
            </a:pPr>
            <a:r>
              <a:rPr lang="en-US" sz="1400" b="1" dirty="0">
                <a:solidFill>
                  <a:srgbClr val="F8FAFC"/>
                </a:solidFill>
                <a:latin typeface="Courier New" pitchFamily="34" charset="0"/>
                <a:ea typeface="Courier New" pitchFamily="34" charset="-122"/>
                <a:cs typeface="Courier New" pitchFamily="34" charset="-120"/>
              </a:rPr>
              <a:t>??</a:t>
            </a:r>
            <a:endParaRPr lang="en-US" sz="1400" dirty="0"/>
          </a:p>
        </p:txBody>
      </p:sp>
      <p:sp>
        <p:nvSpPr>
          <p:cNvPr id="14" name="Text 12"/>
          <p:cNvSpPr txBox="1"/>
          <p:nvPr/>
        </p:nvSpPr>
        <p:spPr>
          <a:xfrm>
            <a:off x="3922776" y="2212848"/>
            <a:ext cx="1609344" cy="246888"/>
          </a:xfrm>
          <a:prstGeom prst="rect">
            <a:avLst/>
          </a:prstGeom>
          <a:noFill/>
          <a:ln/>
        </p:spPr>
        <p:txBody>
          <a:bodyPr wrap="square" lIns="0" tIns="0" rIns="0" bIns="0" rtlCol="0" anchor="ctr">
            <a:normAutofit/>
          </a:bodyPr>
          <a:lstStyle/>
          <a:p>
            <a:pPr marL="0" indent="0" algn="l">
              <a:buNone/>
            </a:pPr>
            <a:r>
              <a:rPr lang="en-US" sz="1400" b="1" dirty="0">
                <a:solidFill>
                  <a:srgbClr val="F8FAFC"/>
                </a:solidFill>
                <a:latin typeface="Calibri" pitchFamily="34" charset="0"/>
                <a:ea typeface="Calibri" pitchFamily="34" charset="-122"/>
                <a:cs typeface="Calibri" pitchFamily="34" charset="-120"/>
              </a:rPr>
              <a:t>Explain</a:t>
            </a:r>
            <a:endParaRPr lang="en-US" sz="1400" dirty="0"/>
          </a:p>
        </p:txBody>
      </p:sp>
      <p:sp>
        <p:nvSpPr>
          <p:cNvPr id="15" name="Text 13"/>
          <p:cNvSpPr txBox="1"/>
          <p:nvPr/>
        </p:nvSpPr>
        <p:spPr>
          <a:xfrm>
            <a:off x="3447288" y="2615184"/>
            <a:ext cx="2066544" cy="676656"/>
          </a:xfrm>
          <a:prstGeom prst="rect">
            <a:avLst/>
          </a:prstGeom>
          <a:noFill/>
          <a:ln/>
        </p:spPr>
        <p:txBody>
          <a:bodyPr wrap="square" lIns="0" tIns="0" rIns="0" bIns="0" rtlCol="0" anchor="t">
            <a:normAutofit/>
          </a:bodyPr>
          <a:lstStyle/>
          <a:p>
            <a:pPr marL="0" indent="0" algn="l">
              <a:buNone/>
            </a:pPr>
            <a:r>
              <a:rPr lang="en-US" sz="1070" dirty="0">
                <a:solidFill>
                  <a:srgbClr val="8EA0B8"/>
                </a:solidFill>
                <a:latin typeface="Calibri" pitchFamily="34" charset="0"/>
                <a:ea typeface="Calibri" pitchFamily="34" charset="-122"/>
                <a:cs typeface="Calibri" pitchFamily="34" charset="-120"/>
              </a:rPr>
              <a:t>Break down concepts, code behavior, and complexity in simple terms.</a:t>
            </a:r>
            <a:endParaRPr lang="en-US" sz="1070" dirty="0"/>
          </a:p>
        </p:txBody>
      </p:sp>
      <p:sp>
        <p:nvSpPr>
          <p:cNvPr id="16" name="Shape 14"/>
          <p:cNvSpPr/>
          <p:nvPr/>
        </p:nvSpPr>
        <p:spPr>
          <a:xfrm>
            <a:off x="594360" y="3602736"/>
            <a:ext cx="2468880" cy="1389888"/>
          </a:xfrm>
          <a:prstGeom prst="roundRect">
            <a:avLst>
              <a:gd name="adj" fmla="val 10526"/>
            </a:avLst>
          </a:prstGeom>
          <a:solidFill>
            <a:srgbClr val="1B2437"/>
          </a:solidFill>
          <a:ln w="12700">
            <a:solidFill>
              <a:srgbClr val="1B2437">
                <a:alpha val="0"/>
              </a:srgbClr>
            </a:solidFill>
            <a:prstDash val="solid"/>
          </a:ln>
        </p:spPr>
      </p:sp>
      <p:sp>
        <p:nvSpPr>
          <p:cNvPr id="17" name="Shape 15"/>
          <p:cNvSpPr/>
          <p:nvPr/>
        </p:nvSpPr>
        <p:spPr>
          <a:xfrm>
            <a:off x="795528" y="3803904"/>
            <a:ext cx="347472" cy="347472"/>
          </a:xfrm>
          <a:prstGeom prst="ellipse">
            <a:avLst/>
          </a:prstGeom>
          <a:solidFill>
            <a:srgbClr val="FF8A7A"/>
          </a:solidFill>
          <a:ln w="12700">
            <a:solidFill>
              <a:srgbClr val="FF8A7A">
                <a:alpha val="0"/>
              </a:srgbClr>
            </a:solidFill>
            <a:prstDash val="solid"/>
          </a:ln>
        </p:spPr>
      </p:sp>
      <p:sp>
        <p:nvSpPr>
          <p:cNvPr id="18" name="Text 16"/>
          <p:cNvSpPr txBox="1"/>
          <p:nvPr/>
        </p:nvSpPr>
        <p:spPr>
          <a:xfrm>
            <a:off x="795528" y="3808476"/>
            <a:ext cx="347472" cy="338328"/>
          </a:xfrm>
          <a:prstGeom prst="rect">
            <a:avLst/>
          </a:prstGeom>
          <a:noFill/>
          <a:ln/>
        </p:spPr>
        <p:txBody>
          <a:bodyPr wrap="square" lIns="0" tIns="0" rIns="0" bIns="0" rtlCol="0" anchor="ctr">
            <a:normAutofit/>
          </a:bodyPr>
          <a:lstStyle/>
          <a:p>
            <a:pPr marL="0" indent="0" algn="ctr">
              <a:buNone/>
            </a:pPr>
            <a:r>
              <a:rPr lang="en-US" sz="1400" b="1" dirty="0">
                <a:solidFill>
                  <a:srgbClr val="F8FAFC"/>
                </a:solidFill>
                <a:latin typeface="Courier New" pitchFamily="34" charset="0"/>
                <a:ea typeface="Courier New" pitchFamily="34" charset="-122"/>
                <a:cs typeface="Courier New" pitchFamily="34" charset="-120"/>
              </a:rPr>
              <a:t>!!</a:t>
            </a:r>
            <a:endParaRPr lang="en-US" sz="1400" dirty="0"/>
          </a:p>
        </p:txBody>
      </p:sp>
      <p:sp>
        <p:nvSpPr>
          <p:cNvPr id="19" name="Text 17"/>
          <p:cNvSpPr txBox="1"/>
          <p:nvPr/>
        </p:nvSpPr>
        <p:spPr>
          <a:xfrm>
            <a:off x="1271016" y="3803904"/>
            <a:ext cx="1609344" cy="246888"/>
          </a:xfrm>
          <a:prstGeom prst="rect">
            <a:avLst/>
          </a:prstGeom>
          <a:noFill/>
          <a:ln/>
        </p:spPr>
        <p:txBody>
          <a:bodyPr wrap="square" lIns="0" tIns="0" rIns="0" bIns="0" rtlCol="0" anchor="ctr">
            <a:normAutofit/>
          </a:bodyPr>
          <a:lstStyle/>
          <a:p>
            <a:pPr marL="0" indent="0" algn="l">
              <a:buNone/>
            </a:pPr>
            <a:r>
              <a:rPr lang="en-US" sz="1400" b="1" dirty="0">
                <a:solidFill>
                  <a:srgbClr val="F8FAFC"/>
                </a:solidFill>
                <a:latin typeface="Calibri" pitchFamily="34" charset="0"/>
                <a:ea typeface="Calibri" pitchFamily="34" charset="-122"/>
                <a:cs typeface="Calibri" pitchFamily="34" charset="-120"/>
              </a:rPr>
              <a:t>Debug</a:t>
            </a:r>
            <a:endParaRPr lang="en-US" sz="1400" dirty="0"/>
          </a:p>
        </p:txBody>
      </p:sp>
      <p:sp>
        <p:nvSpPr>
          <p:cNvPr id="20" name="Text 18"/>
          <p:cNvSpPr txBox="1"/>
          <p:nvPr/>
        </p:nvSpPr>
        <p:spPr>
          <a:xfrm>
            <a:off x="795528" y="4206240"/>
            <a:ext cx="2066544" cy="676656"/>
          </a:xfrm>
          <a:prstGeom prst="rect">
            <a:avLst/>
          </a:prstGeom>
          <a:noFill/>
          <a:ln/>
        </p:spPr>
        <p:txBody>
          <a:bodyPr wrap="square" lIns="0" tIns="0" rIns="0" bIns="0" rtlCol="0" anchor="t">
            <a:normAutofit/>
          </a:bodyPr>
          <a:lstStyle/>
          <a:p>
            <a:pPr marL="0" indent="0" algn="l">
              <a:buNone/>
            </a:pPr>
            <a:r>
              <a:rPr lang="en-US" sz="1070" dirty="0">
                <a:solidFill>
                  <a:srgbClr val="8EA0B8"/>
                </a:solidFill>
                <a:latin typeface="Calibri" pitchFamily="34" charset="0"/>
                <a:ea typeface="Calibri" pitchFamily="34" charset="-122"/>
                <a:cs typeface="Calibri" pitchFamily="34" charset="-120"/>
              </a:rPr>
              <a:t>Help identify errors and suggest practical fixes.</a:t>
            </a:r>
            <a:endParaRPr lang="en-US" sz="1070" dirty="0"/>
          </a:p>
        </p:txBody>
      </p:sp>
      <p:sp>
        <p:nvSpPr>
          <p:cNvPr id="21" name="Shape 19"/>
          <p:cNvSpPr/>
          <p:nvPr/>
        </p:nvSpPr>
        <p:spPr>
          <a:xfrm>
            <a:off x="3246120" y="3602736"/>
            <a:ext cx="2468880" cy="1389888"/>
          </a:xfrm>
          <a:prstGeom prst="roundRect">
            <a:avLst>
              <a:gd name="adj" fmla="val 10526"/>
            </a:avLst>
          </a:prstGeom>
          <a:solidFill>
            <a:srgbClr val="1B2437"/>
          </a:solidFill>
          <a:ln w="12700">
            <a:solidFill>
              <a:srgbClr val="1B2437">
                <a:alpha val="0"/>
              </a:srgbClr>
            </a:solidFill>
            <a:prstDash val="solid"/>
          </a:ln>
        </p:spPr>
      </p:sp>
      <p:sp>
        <p:nvSpPr>
          <p:cNvPr id="22" name="Shape 20"/>
          <p:cNvSpPr/>
          <p:nvPr/>
        </p:nvSpPr>
        <p:spPr>
          <a:xfrm>
            <a:off x="3447288" y="3803904"/>
            <a:ext cx="347472" cy="347472"/>
          </a:xfrm>
          <a:prstGeom prst="ellipse">
            <a:avLst/>
          </a:prstGeom>
          <a:solidFill>
            <a:srgbClr val="F7C873"/>
          </a:solidFill>
          <a:ln w="12700">
            <a:solidFill>
              <a:srgbClr val="F7C873">
                <a:alpha val="0"/>
              </a:srgbClr>
            </a:solidFill>
            <a:prstDash val="solid"/>
          </a:ln>
        </p:spPr>
      </p:sp>
      <p:sp>
        <p:nvSpPr>
          <p:cNvPr id="23" name="Text 21"/>
          <p:cNvSpPr txBox="1"/>
          <p:nvPr/>
        </p:nvSpPr>
        <p:spPr>
          <a:xfrm>
            <a:off x="3447288" y="3808476"/>
            <a:ext cx="347472" cy="338328"/>
          </a:xfrm>
          <a:prstGeom prst="rect">
            <a:avLst/>
          </a:prstGeom>
          <a:noFill/>
          <a:ln/>
        </p:spPr>
        <p:txBody>
          <a:bodyPr wrap="square" lIns="0" tIns="0" rIns="0" bIns="0" rtlCol="0" anchor="ctr">
            <a:normAutofit/>
          </a:bodyPr>
          <a:lstStyle/>
          <a:p>
            <a:pPr marL="0" indent="0" algn="ctr">
              <a:buNone/>
            </a:pPr>
            <a:r>
              <a:rPr lang="en-US" sz="1400" b="1" dirty="0">
                <a:solidFill>
                  <a:srgbClr val="F8FAFC"/>
                </a:solidFill>
                <a:latin typeface="Courier New" pitchFamily="34" charset="0"/>
                <a:ea typeface="Courier New" pitchFamily="34" charset="-122"/>
                <a:cs typeface="Courier New" pitchFamily="34" charset="-120"/>
              </a:rPr>
              <a:t>[]</a:t>
            </a:r>
            <a:endParaRPr lang="en-US" sz="1400" dirty="0"/>
          </a:p>
        </p:txBody>
      </p:sp>
      <p:sp>
        <p:nvSpPr>
          <p:cNvPr id="24" name="Text 22"/>
          <p:cNvSpPr txBox="1"/>
          <p:nvPr/>
        </p:nvSpPr>
        <p:spPr>
          <a:xfrm>
            <a:off x="3922776" y="3803904"/>
            <a:ext cx="1609344" cy="246888"/>
          </a:xfrm>
          <a:prstGeom prst="rect">
            <a:avLst/>
          </a:prstGeom>
          <a:noFill/>
          <a:ln/>
        </p:spPr>
        <p:txBody>
          <a:bodyPr wrap="square" lIns="0" tIns="0" rIns="0" bIns="0" rtlCol="0" anchor="ctr">
            <a:normAutofit/>
          </a:bodyPr>
          <a:lstStyle/>
          <a:p>
            <a:pPr marL="0" indent="0" algn="l">
              <a:buNone/>
            </a:pPr>
            <a:r>
              <a:rPr lang="en-US" sz="1400" b="1" dirty="0">
                <a:solidFill>
                  <a:srgbClr val="F8FAFC"/>
                </a:solidFill>
                <a:latin typeface="Calibri" pitchFamily="34" charset="0"/>
                <a:ea typeface="Calibri" pitchFamily="34" charset="-122"/>
                <a:cs typeface="Calibri" pitchFamily="34" charset="-120"/>
              </a:rPr>
              <a:t>Remember</a:t>
            </a:r>
            <a:endParaRPr lang="en-US" sz="1400" dirty="0"/>
          </a:p>
        </p:txBody>
      </p:sp>
      <p:sp>
        <p:nvSpPr>
          <p:cNvPr id="25" name="Text 23"/>
          <p:cNvSpPr txBox="1"/>
          <p:nvPr/>
        </p:nvSpPr>
        <p:spPr>
          <a:xfrm>
            <a:off x="3447288" y="4206240"/>
            <a:ext cx="2066544" cy="676656"/>
          </a:xfrm>
          <a:prstGeom prst="rect">
            <a:avLst/>
          </a:prstGeom>
          <a:noFill/>
          <a:ln/>
        </p:spPr>
        <p:txBody>
          <a:bodyPr wrap="square" lIns="0" tIns="0" rIns="0" bIns="0" rtlCol="0" anchor="t">
            <a:normAutofit/>
          </a:bodyPr>
          <a:lstStyle/>
          <a:p>
            <a:pPr marL="0" indent="0" algn="l">
              <a:buNone/>
            </a:pPr>
            <a:r>
              <a:rPr lang="en-US" sz="1070" dirty="0">
                <a:solidFill>
                  <a:srgbClr val="8EA0B8"/>
                </a:solidFill>
                <a:latin typeface="Calibri" pitchFamily="34" charset="0"/>
                <a:ea typeface="Calibri" pitchFamily="34" charset="-122"/>
                <a:cs typeface="Calibri" pitchFamily="34" charset="-120"/>
              </a:rPr>
              <a:t>Keep local conversation history for later reference and follow-up questions.</a:t>
            </a:r>
            <a:endParaRPr lang="en-US" sz="1070" dirty="0"/>
          </a:p>
        </p:txBody>
      </p:sp>
      <p:sp>
        <p:nvSpPr>
          <p:cNvPr id="26" name="Shape 24"/>
          <p:cNvSpPr/>
          <p:nvPr/>
        </p:nvSpPr>
        <p:spPr>
          <a:xfrm>
            <a:off x="6144768" y="2011680"/>
            <a:ext cx="5422392" cy="4160520"/>
          </a:xfrm>
          <a:prstGeom prst="roundRect">
            <a:avLst>
              <a:gd name="adj" fmla="val 3956"/>
            </a:avLst>
          </a:prstGeom>
          <a:solidFill>
            <a:srgbClr val="1B2437"/>
          </a:solidFill>
          <a:ln w="12700">
            <a:solidFill>
              <a:srgbClr val="1B2437">
                <a:alpha val="0"/>
              </a:srgbClr>
            </a:solidFill>
            <a:prstDash val="solid"/>
          </a:ln>
        </p:spPr>
      </p:sp>
      <p:sp>
        <p:nvSpPr>
          <p:cNvPr id="27" name="Shape 25"/>
          <p:cNvSpPr/>
          <p:nvPr/>
        </p:nvSpPr>
        <p:spPr>
          <a:xfrm>
            <a:off x="6419088" y="2286000"/>
            <a:ext cx="1353312" cy="256032"/>
          </a:xfrm>
          <a:prstGeom prst="roundRect">
            <a:avLst>
              <a:gd name="adj" fmla="val 42857"/>
            </a:avLst>
          </a:prstGeom>
          <a:solidFill>
            <a:srgbClr val="151C2D"/>
          </a:solidFill>
          <a:ln w="12700">
            <a:solidFill>
              <a:srgbClr val="151C2D">
                <a:alpha val="0"/>
              </a:srgbClr>
            </a:solidFill>
            <a:prstDash val="solid"/>
          </a:ln>
        </p:spPr>
      </p:sp>
      <p:sp>
        <p:nvSpPr>
          <p:cNvPr id="28" name="Text 26"/>
          <p:cNvSpPr txBox="1"/>
          <p:nvPr/>
        </p:nvSpPr>
        <p:spPr>
          <a:xfrm>
            <a:off x="6419088" y="2295144"/>
            <a:ext cx="1353312"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USER EXPERIENCE</a:t>
            </a:r>
            <a:endParaRPr lang="en-US" sz="850" dirty="0"/>
          </a:p>
        </p:txBody>
      </p:sp>
      <p:sp>
        <p:nvSpPr>
          <p:cNvPr id="29" name="Text 27"/>
          <p:cNvSpPr txBox="1"/>
          <p:nvPr/>
        </p:nvSpPr>
        <p:spPr>
          <a:xfrm>
            <a:off x="6419088" y="2697480"/>
            <a:ext cx="2148840" cy="667512"/>
          </a:xfrm>
          <a:prstGeom prst="rect">
            <a:avLst/>
          </a:prstGeom>
          <a:noFill/>
          <a:ln/>
        </p:spPr>
        <p:txBody>
          <a:bodyPr wrap="square" lIns="0" tIns="0" rIns="0" bIns="0" rtlCol="0" anchor="t">
            <a:normAutofit/>
          </a:bodyPr>
          <a:lstStyle/>
          <a:p>
            <a:pPr marL="0" indent="0" algn="l">
              <a:buNone/>
            </a:pPr>
            <a:r>
              <a:rPr lang="en-US" sz="2200" b="1" dirty="0">
                <a:solidFill>
                  <a:srgbClr val="F8FAFC"/>
                </a:solidFill>
                <a:latin typeface="Cambria" pitchFamily="34" charset="0"/>
                <a:ea typeface="Cambria" pitchFamily="34" charset="-122"/>
                <a:cs typeface="Cambria" pitchFamily="34" charset="-120"/>
              </a:rPr>
              <a:t>Prompt in.</a:t>
            </a:r>
            <a:endParaRPr lang="en-US" sz="2200" dirty="0"/>
          </a:p>
          <a:p>
            <a:pPr marL="0" indent="0" algn="l">
              <a:buNone/>
            </a:pPr>
            <a:r>
              <a:rPr lang="en-US" sz="2200" b="1" dirty="0">
                <a:solidFill>
                  <a:srgbClr val="F8FAFC"/>
                </a:solidFill>
                <a:latin typeface="Cambria" pitchFamily="34" charset="0"/>
                <a:ea typeface="Cambria" pitchFamily="34" charset="-122"/>
                <a:cs typeface="Cambria" pitchFamily="34" charset="-120"/>
              </a:rPr>
              <a:t>Useful code out.</a:t>
            </a:r>
            <a:endParaRPr lang="en-US" sz="2200" dirty="0"/>
          </a:p>
        </p:txBody>
      </p:sp>
      <p:sp>
        <p:nvSpPr>
          <p:cNvPr id="30" name="Shape 28"/>
          <p:cNvSpPr/>
          <p:nvPr/>
        </p:nvSpPr>
        <p:spPr>
          <a:xfrm>
            <a:off x="8458200" y="2267712"/>
            <a:ext cx="2212848" cy="3538728"/>
          </a:xfrm>
          <a:prstGeom prst="roundRect">
            <a:avLst>
              <a:gd name="adj" fmla="val 9917"/>
            </a:avLst>
          </a:prstGeom>
          <a:solidFill>
            <a:srgbClr val="0B0F17"/>
          </a:solidFill>
          <a:ln w="12700">
            <a:solidFill>
              <a:srgbClr val="202B42"/>
            </a:solidFill>
            <a:prstDash val="solid"/>
          </a:ln>
        </p:spPr>
      </p:sp>
      <p:sp>
        <p:nvSpPr>
          <p:cNvPr id="31" name="Shape 29"/>
          <p:cNvSpPr/>
          <p:nvPr/>
        </p:nvSpPr>
        <p:spPr>
          <a:xfrm>
            <a:off x="8531352" y="2377440"/>
            <a:ext cx="2066544" cy="3319272"/>
          </a:xfrm>
          <a:prstGeom prst="roundRect">
            <a:avLst>
              <a:gd name="adj" fmla="val 7522"/>
            </a:avLst>
          </a:prstGeom>
          <a:solidFill>
            <a:srgbClr val="151C2D"/>
          </a:solidFill>
          <a:ln w="12700">
            <a:solidFill>
              <a:srgbClr val="151C2D">
                <a:alpha val="0"/>
              </a:srgbClr>
            </a:solidFill>
            <a:prstDash val="solid"/>
          </a:ln>
        </p:spPr>
      </p:sp>
      <p:sp>
        <p:nvSpPr>
          <p:cNvPr id="32" name="Shape 30"/>
          <p:cNvSpPr/>
          <p:nvPr/>
        </p:nvSpPr>
        <p:spPr>
          <a:xfrm>
            <a:off x="9244584" y="2308860"/>
            <a:ext cx="640080" cy="64008"/>
          </a:xfrm>
          <a:prstGeom prst="roundRect">
            <a:avLst>
              <a:gd name="adj" fmla="val 42857"/>
            </a:avLst>
          </a:prstGeom>
          <a:solidFill>
            <a:srgbClr val="0B0F17"/>
          </a:solidFill>
          <a:ln w="12700">
            <a:solidFill>
              <a:srgbClr val="0B0F17">
                <a:alpha val="0"/>
              </a:srgbClr>
            </a:solidFill>
            <a:prstDash val="solid"/>
          </a:ln>
        </p:spPr>
      </p:sp>
      <p:sp>
        <p:nvSpPr>
          <p:cNvPr id="33" name="Text 31"/>
          <p:cNvSpPr txBox="1"/>
          <p:nvPr/>
        </p:nvSpPr>
        <p:spPr>
          <a:xfrm>
            <a:off x="8641080" y="2423160"/>
            <a:ext cx="310896" cy="128016"/>
          </a:xfrm>
          <a:prstGeom prst="rect">
            <a:avLst/>
          </a:prstGeom>
          <a:noFill/>
          <a:ln/>
        </p:spPr>
        <p:txBody>
          <a:bodyPr wrap="square" lIns="0" tIns="0" rIns="0" bIns="0" rtlCol="0" anchor="ctr">
            <a:normAutofit/>
          </a:bodyPr>
          <a:lstStyle/>
          <a:p>
            <a:pPr marL="0" indent="0" algn="l">
              <a:buNone/>
            </a:pPr>
            <a:r>
              <a:rPr lang="en-US" sz="700" dirty="0">
                <a:solidFill>
                  <a:srgbClr val="8EA0B8"/>
                </a:solidFill>
                <a:latin typeface="Calibri" pitchFamily="34" charset="0"/>
                <a:ea typeface="Calibri" pitchFamily="34" charset="-122"/>
                <a:cs typeface="Calibri" pitchFamily="34" charset="-120"/>
              </a:rPr>
              <a:t>9:41</a:t>
            </a:r>
            <a:endParaRPr lang="en-US" sz="700" dirty="0"/>
          </a:p>
        </p:txBody>
      </p:sp>
      <p:sp>
        <p:nvSpPr>
          <p:cNvPr id="34" name="Text 32"/>
          <p:cNvSpPr txBox="1"/>
          <p:nvPr/>
        </p:nvSpPr>
        <p:spPr>
          <a:xfrm>
            <a:off x="8705088" y="2706624"/>
            <a:ext cx="1719072" cy="219456"/>
          </a:xfrm>
          <a:prstGeom prst="rect">
            <a:avLst/>
          </a:prstGeom>
          <a:noFill/>
          <a:ln/>
        </p:spPr>
        <p:txBody>
          <a:bodyPr wrap="square" lIns="0" tIns="0" rIns="0" bIns="0" rtlCol="0" anchor="ctr">
            <a:normAutofit/>
          </a:bodyPr>
          <a:lstStyle/>
          <a:p>
            <a:pPr marL="0" indent="0" algn="l">
              <a:buNone/>
            </a:pPr>
            <a:r>
              <a:rPr lang="en-US" sz="1150" b="1" dirty="0">
                <a:solidFill>
                  <a:srgbClr val="F8FAFC"/>
                </a:solidFill>
                <a:latin typeface="Calibri" pitchFamily="34" charset="0"/>
                <a:ea typeface="Calibri" pitchFamily="34" charset="-122"/>
                <a:cs typeface="Calibri" pitchFamily="34" charset="-120"/>
              </a:rPr>
              <a:t>Chiti Code</a:t>
            </a:r>
            <a:endParaRPr lang="en-US" sz="1150" dirty="0"/>
          </a:p>
        </p:txBody>
      </p:sp>
      <p:sp>
        <p:nvSpPr>
          <p:cNvPr id="35" name="Shape 33"/>
          <p:cNvSpPr/>
          <p:nvPr/>
        </p:nvSpPr>
        <p:spPr>
          <a:xfrm>
            <a:off x="8622792" y="2980944"/>
            <a:ext cx="1883664" cy="0"/>
          </a:xfrm>
          <a:prstGeom prst="line">
            <a:avLst/>
          </a:prstGeom>
          <a:noFill/>
          <a:ln w="8890">
            <a:solidFill>
              <a:srgbClr val="202B42"/>
            </a:solidFill>
            <a:prstDash val="solid"/>
            <a:tailEnd type="none"/>
          </a:ln>
        </p:spPr>
      </p:sp>
      <p:sp>
        <p:nvSpPr>
          <p:cNvPr id="36" name="Shape 34"/>
          <p:cNvSpPr/>
          <p:nvPr/>
        </p:nvSpPr>
        <p:spPr>
          <a:xfrm>
            <a:off x="8695944" y="3227832"/>
            <a:ext cx="1737360" cy="530352"/>
          </a:xfrm>
          <a:prstGeom prst="roundRect">
            <a:avLst>
              <a:gd name="adj" fmla="val 18966"/>
            </a:avLst>
          </a:prstGeom>
          <a:solidFill>
            <a:srgbClr val="6D5DFB"/>
          </a:solidFill>
          <a:ln w="12700">
            <a:solidFill>
              <a:srgbClr val="6D5DFB">
                <a:alpha val="0"/>
              </a:srgbClr>
            </a:solidFill>
            <a:prstDash val="solid"/>
          </a:ln>
        </p:spPr>
      </p:sp>
      <p:sp>
        <p:nvSpPr>
          <p:cNvPr id="37" name="Text 35"/>
          <p:cNvSpPr txBox="1"/>
          <p:nvPr/>
        </p:nvSpPr>
        <p:spPr>
          <a:xfrm>
            <a:off x="8814816" y="3346704"/>
            <a:ext cx="1499616" cy="210312"/>
          </a:xfrm>
          <a:prstGeom prst="rect">
            <a:avLst/>
          </a:prstGeom>
          <a:noFill/>
          <a:ln/>
        </p:spPr>
        <p:txBody>
          <a:bodyPr wrap="square" lIns="0" tIns="0" rIns="0" bIns="0" rtlCol="0" anchor="ctr">
            <a:normAutofit/>
          </a:bodyPr>
          <a:lstStyle/>
          <a:p>
            <a:pPr marL="0" indent="0" algn="l">
              <a:buNone/>
            </a:pPr>
            <a:r>
              <a:rPr lang="en-US" sz="880" dirty="0">
                <a:solidFill>
                  <a:srgbClr val="F8FAFC"/>
                </a:solidFill>
                <a:latin typeface="Calibri" pitchFamily="34" charset="0"/>
                <a:ea typeface="Calibri" pitchFamily="34" charset="-122"/>
                <a:cs typeface="Calibri" pitchFamily="34" charset="-120"/>
              </a:rPr>
              <a:t>Write binary search in Java</a:t>
            </a:r>
            <a:endParaRPr lang="en-US" sz="880" dirty="0"/>
          </a:p>
        </p:txBody>
      </p:sp>
      <p:sp>
        <p:nvSpPr>
          <p:cNvPr id="38" name="Shape 36"/>
          <p:cNvSpPr/>
          <p:nvPr/>
        </p:nvSpPr>
        <p:spPr>
          <a:xfrm>
            <a:off x="8695944" y="3931920"/>
            <a:ext cx="1737360" cy="1581912"/>
          </a:xfrm>
          <a:prstGeom prst="roundRect">
            <a:avLst>
              <a:gd name="adj" fmla="val 5789"/>
            </a:avLst>
          </a:prstGeom>
          <a:solidFill>
            <a:srgbClr val="1B2437"/>
          </a:solidFill>
          <a:ln w="12700">
            <a:solidFill>
              <a:srgbClr val="1B2437">
                <a:alpha val="0"/>
              </a:srgbClr>
            </a:solidFill>
            <a:prstDash val="solid"/>
          </a:ln>
        </p:spPr>
      </p:sp>
      <p:sp>
        <p:nvSpPr>
          <p:cNvPr id="39" name="Text 37"/>
          <p:cNvSpPr txBox="1"/>
          <p:nvPr/>
        </p:nvSpPr>
        <p:spPr>
          <a:xfrm>
            <a:off x="8814816" y="4078224"/>
            <a:ext cx="1499616" cy="201168"/>
          </a:xfrm>
          <a:prstGeom prst="rect">
            <a:avLst/>
          </a:prstGeom>
          <a:noFill/>
          <a:ln/>
        </p:spPr>
        <p:txBody>
          <a:bodyPr wrap="square" lIns="0" tIns="0" rIns="0" bIns="0" rtlCol="0" anchor="ctr">
            <a:normAutofit/>
          </a:bodyPr>
          <a:lstStyle/>
          <a:p>
            <a:pPr marL="0" indent="0" algn="l">
              <a:buNone/>
            </a:pPr>
            <a:r>
              <a:rPr lang="en-US" sz="850" dirty="0">
                <a:solidFill>
                  <a:srgbClr val="DCE5F2"/>
                </a:solidFill>
                <a:latin typeface="Calibri" pitchFamily="34" charset="0"/>
                <a:ea typeface="Calibri" pitchFamily="34" charset="-122"/>
                <a:cs typeface="Calibri" pitchFamily="34" charset="-120"/>
              </a:rPr>
              <a:t>Here is a Java implementation:</a:t>
            </a:r>
            <a:endParaRPr lang="en-US" sz="850" dirty="0"/>
          </a:p>
        </p:txBody>
      </p:sp>
      <p:sp>
        <p:nvSpPr>
          <p:cNvPr id="40" name="Shape 38"/>
          <p:cNvSpPr/>
          <p:nvPr/>
        </p:nvSpPr>
        <p:spPr>
          <a:xfrm>
            <a:off x="8814816" y="4389120"/>
            <a:ext cx="1499616" cy="1124712"/>
          </a:xfrm>
          <a:prstGeom prst="roundRect">
            <a:avLst>
              <a:gd name="adj" fmla="val 4878"/>
            </a:avLst>
          </a:prstGeom>
          <a:solidFill>
            <a:srgbClr val="0B0F17"/>
          </a:solidFill>
          <a:ln w="12700">
            <a:solidFill>
              <a:srgbClr val="0B0F17">
                <a:alpha val="0"/>
              </a:srgbClr>
            </a:solidFill>
            <a:prstDash val="solid"/>
          </a:ln>
        </p:spPr>
      </p:sp>
      <p:sp>
        <p:nvSpPr>
          <p:cNvPr id="41" name="Text 39"/>
          <p:cNvSpPr txBox="1"/>
          <p:nvPr/>
        </p:nvSpPr>
        <p:spPr>
          <a:xfrm>
            <a:off x="8915400" y="4535424"/>
            <a:ext cx="1298448" cy="173736"/>
          </a:xfrm>
          <a:prstGeom prst="rect">
            <a:avLst/>
          </a:prstGeom>
          <a:noFill/>
          <a:ln/>
        </p:spPr>
        <p:txBody>
          <a:bodyPr wrap="square" lIns="0" tIns="0" rIns="0" bIns="0" rtlCol="0" anchor="ctr">
            <a:normAutofit/>
          </a:bodyPr>
          <a:lstStyle/>
          <a:p>
            <a:pPr marL="0" indent="0" algn="l">
              <a:buNone/>
            </a:pPr>
            <a:r>
              <a:rPr lang="en-US" sz="650" dirty="0">
                <a:solidFill>
                  <a:srgbClr val="2DD4BF"/>
                </a:solidFill>
                <a:latin typeface="Courier New" pitchFamily="34" charset="0"/>
                <a:ea typeface="Courier New" pitchFamily="34" charset="-122"/>
                <a:cs typeface="Courier New" pitchFamily="34" charset="-120"/>
              </a:rPr>
              <a:t>int binarySearch(int[] a, int key) {</a:t>
            </a:r>
            <a:endParaRPr lang="en-US" sz="650" dirty="0"/>
          </a:p>
        </p:txBody>
      </p:sp>
      <p:sp>
        <p:nvSpPr>
          <p:cNvPr id="42" name="Text 40"/>
          <p:cNvSpPr txBox="1"/>
          <p:nvPr/>
        </p:nvSpPr>
        <p:spPr>
          <a:xfrm>
            <a:off x="8915400" y="4736592"/>
            <a:ext cx="1298448" cy="173736"/>
          </a:xfrm>
          <a:prstGeom prst="rect">
            <a:avLst/>
          </a:prstGeom>
          <a:noFill/>
          <a:ln/>
        </p:spPr>
        <p:txBody>
          <a:bodyPr wrap="square" lIns="0" tIns="0" rIns="0" bIns="0" rtlCol="0" anchor="ctr">
            <a:normAutofit/>
          </a:bodyPr>
          <a:lstStyle/>
          <a:p>
            <a:pPr marL="0" indent="0" algn="l">
              <a:buNone/>
            </a:pPr>
            <a:r>
              <a:rPr lang="en-US" sz="650" dirty="0">
                <a:solidFill>
                  <a:srgbClr val="DCE5F2"/>
                </a:solidFill>
                <a:latin typeface="Courier New" pitchFamily="34" charset="0"/>
                <a:ea typeface="Courier New" pitchFamily="34" charset="-122"/>
                <a:cs typeface="Courier New" pitchFamily="34" charset="-120"/>
              </a:rPr>
              <a:t>  int lo = 0, hi = a.length - 1;</a:t>
            </a:r>
            <a:endParaRPr lang="en-US" sz="650" dirty="0"/>
          </a:p>
        </p:txBody>
      </p:sp>
      <p:sp>
        <p:nvSpPr>
          <p:cNvPr id="43" name="Text 41"/>
          <p:cNvSpPr txBox="1"/>
          <p:nvPr/>
        </p:nvSpPr>
        <p:spPr>
          <a:xfrm>
            <a:off x="8915400" y="4937760"/>
            <a:ext cx="1298448" cy="173736"/>
          </a:xfrm>
          <a:prstGeom prst="rect">
            <a:avLst/>
          </a:prstGeom>
          <a:noFill/>
          <a:ln/>
        </p:spPr>
        <p:txBody>
          <a:bodyPr wrap="square" lIns="0" tIns="0" rIns="0" bIns="0" rtlCol="0" anchor="ctr">
            <a:normAutofit/>
          </a:bodyPr>
          <a:lstStyle/>
          <a:p>
            <a:pPr marL="0" indent="0" algn="l">
              <a:buNone/>
            </a:pPr>
            <a:r>
              <a:rPr lang="en-US" sz="650" dirty="0">
                <a:solidFill>
                  <a:srgbClr val="DCE5F2"/>
                </a:solidFill>
                <a:latin typeface="Courier New" pitchFamily="34" charset="0"/>
                <a:ea typeface="Courier New" pitchFamily="34" charset="-122"/>
                <a:cs typeface="Courier New" pitchFamily="34" charset="-120"/>
              </a:rPr>
              <a:t>  while (lo &lt;= hi) { ... }</a:t>
            </a:r>
            <a:endParaRPr lang="en-US" sz="650" dirty="0"/>
          </a:p>
        </p:txBody>
      </p:sp>
      <p:sp>
        <p:nvSpPr>
          <p:cNvPr id="44" name="Text 42"/>
          <p:cNvSpPr txBox="1"/>
          <p:nvPr/>
        </p:nvSpPr>
        <p:spPr>
          <a:xfrm>
            <a:off x="8915400" y="5138928"/>
            <a:ext cx="1298448" cy="173736"/>
          </a:xfrm>
          <a:prstGeom prst="rect">
            <a:avLst/>
          </a:prstGeom>
          <a:noFill/>
          <a:ln/>
        </p:spPr>
        <p:txBody>
          <a:bodyPr wrap="square" lIns="0" tIns="0" rIns="0" bIns="0" rtlCol="0" anchor="ctr">
            <a:normAutofit/>
          </a:bodyPr>
          <a:lstStyle/>
          <a:p>
            <a:pPr marL="0" indent="0" algn="l">
              <a:buNone/>
            </a:pPr>
            <a:r>
              <a:rPr lang="en-US" sz="650" dirty="0">
                <a:solidFill>
                  <a:srgbClr val="DCE5F2"/>
                </a:solidFill>
                <a:latin typeface="Courier New" pitchFamily="34" charset="0"/>
                <a:ea typeface="Courier New" pitchFamily="34" charset="-122"/>
                <a:cs typeface="Courier New" pitchFamily="34" charset="-120"/>
              </a:rPr>
              <a:t>  return -1;</a:t>
            </a:r>
            <a:endParaRPr lang="en-US" sz="650" dirty="0"/>
          </a:p>
        </p:txBody>
      </p:sp>
      <p:sp>
        <p:nvSpPr>
          <p:cNvPr id="45" name="Text 43"/>
          <p:cNvSpPr txBox="1"/>
          <p:nvPr/>
        </p:nvSpPr>
        <p:spPr>
          <a:xfrm>
            <a:off x="8915400" y="5340096"/>
            <a:ext cx="1298448" cy="173736"/>
          </a:xfrm>
          <a:prstGeom prst="rect">
            <a:avLst/>
          </a:prstGeom>
          <a:noFill/>
          <a:ln/>
        </p:spPr>
        <p:txBody>
          <a:bodyPr wrap="square" lIns="0" tIns="0" rIns="0" bIns="0" rtlCol="0" anchor="ctr">
            <a:normAutofit/>
          </a:bodyPr>
          <a:lstStyle/>
          <a:p>
            <a:pPr marL="0" indent="0" algn="l">
              <a:buNone/>
            </a:pPr>
            <a:r>
              <a:rPr lang="en-US" sz="650" dirty="0">
                <a:solidFill>
                  <a:srgbClr val="2DD4BF"/>
                </a:solidFill>
                <a:latin typeface="Courier New" pitchFamily="34" charset="0"/>
                <a:ea typeface="Courier New" pitchFamily="34" charset="-122"/>
                <a:cs typeface="Courier New" pitchFamily="34" charset="-120"/>
              </a:rPr>
              <a:t>}</a:t>
            </a:r>
            <a:endParaRPr lang="en-US" sz="650" dirty="0"/>
          </a:p>
        </p:txBody>
      </p:sp>
      <p:sp>
        <p:nvSpPr>
          <p:cNvPr id="46" name="Shape 44"/>
          <p:cNvSpPr/>
          <p:nvPr/>
        </p:nvSpPr>
        <p:spPr>
          <a:xfrm>
            <a:off x="8655269" y="5280660"/>
            <a:ext cx="1810512" cy="347472"/>
          </a:xfrm>
          <a:prstGeom prst="roundRect">
            <a:avLst>
              <a:gd name="adj" fmla="val 26316"/>
            </a:avLst>
          </a:prstGeom>
          <a:solidFill>
            <a:srgbClr val="1B2437"/>
          </a:solidFill>
          <a:ln w="12700">
            <a:solidFill>
              <a:srgbClr val="1B2437">
                <a:alpha val="0"/>
              </a:srgbClr>
            </a:solidFill>
            <a:prstDash val="solid"/>
          </a:ln>
        </p:spPr>
      </p:sp>
      <p:sp>
        <p:nvSpPr>
          <p:cNvPr id="47" name="Text 45"/>
          <p:cNvSpPr txBox="1"/>
          <p:nvPr/>
        </p:nvSpPr>
        <p:spPr>
          <a:xfrm>
            <a:off x="8869680" y="5372100"/>
            <a:ext cx="1527048" cy="164592"/>
          </a:xfrm>
          <a:prstGeom prst="rect">
            <a:avLst/>
          </a:prstGeom>
          <a:noFill/>
          <a:ln/>
        </p:spPr>
        <p:txBody>
          <a:bodyPr wrap="square" lIns="0" tIns="0" rIns="0" bIns="0" rtlCol="0" anchor="ctr">
            <a:normAutofit/>
          </a:bodyPr>
          <a:lstStyle/>
          <a:p>
            <a:pPr marL="0" indent="0" algn="l">
              <a:buNone/>
            </a:pPr>
            <a:r>
              <a:rPr lang="en-US" sz="800" dirty="0">
                <a:solidFill>
                  <a:srgbClr val="56657D"/>
                </a:solidFill>
                <a:latin typeface="Calibri" pitchFamily="34" charset="0"/>
                <a:ea typeface="Calibri" pitchFamily="34" charset="-122"/>
                <a:cs typeface="Calibri" pitchFamily="34" charset="-120"/>
              </a:rPr>
              <a:t>Ask a follow-up...</a:t>
            </a:r>
            <a:endParaRPr lang="en-US" sz="800" dirty="0"/>
          </a:p>
        </p:txBody>
      </p:sp>
      <p:sp>
        <p:nvSpPr>
          <p:cNvPr id="48" name="Shape 46"/>
          <p:cNvSpPr/>
          <p:nvPr/>
        </p:nvSpPr>
        <p:spPr>
          <a:xfrm>
            <a:off x="6419088" y="3675888"/>
            <a:ext cx="1673352" cy="1591056"/>
          </a:xfrm>
          <a:prstGeom prst="roundRect">
            <a:avLst>
              <a:gd name="adj" fmla="val 6897"/>
            </a:avLst>
          </a:prstGeom>
          <a:solidFill>
            <a:srgbClr val="151C2D"/>
          </a:solidFill>
          <a:ln w="12700">
            <a:solidFill>
              <a:srgbClr val="151C2D">
                <a:alpha val="0"/>
              </a:srgbClr>
            </a:solidFill>
            <a:prstDash val="solid"/>
          </a:ln>
        </p:spPr>
      </p:sp>
      <p:sp>
        <p:nvSpPr>
          <p:cNvPr id="49" name="Shape 47"/>
          <p:cNvSpPr/>
          <p:nvPr/>
        </p:nvSpPr>
        <p:spPr>
          <a:xfrm>
            <a:off x="6601968" y="3986784"/>
            <a:ext cx="73152" cy="73152"/>
          </a:xfrm>
          <a:prstGeom prst="ellipse">
            <a:avLst/>
          </a:prstGeom>
          <a:solidFill>
            <a:srgbClr val="2DD4BF"/>
          </a:solidFill>
          <a:ln w="12700">
            <a:solidFill>
              <a:srgbClr val="2DD4BF">
                <a:alpha val="0"/>
              </a:srgbClr>
            </a:solidFill>
            <a:prstDash val="solid"/>
          </a:ln>
        </p:spPr>
      </p:sp>
      <p:sp>
        <p:nvSpPr>
          <p:cNvPr id="50" name="Text 48"/>
          <p:cNvSpPr txBox="1"/>
          <p:nvPr/>
        </p:nvSpPr>
        <p:spPr>
          <a:xfrm>
            <a:off x="6766560" y="3913632"/>
            <a:ext cx="1161288" cy="292608"/>
          </a:xfrm>
          <a:prstGeom prst="rect">
            <a:avLst/>
          </a:prstGeom>
          <a:noFill/>
          <a:ln/>
        </p:spPr>
        <p:txBody>
          <a:bodyPr wrap="square" lIns="0" tIns="0" rIns="0" bIns="0" rtlCol="0" anchor="ctr">
            <a:normAutofit/>
          </a:bodyPr>
          <a:lstStyle/>
          <a:p>
            <a:pPr marL="0" indent="0" algn="l">
              <a:buNone/>
            </a:pPr>
            <a:r>
              <a:rPr lang="en-US" sz="1050" dirty="0">
                <a:solidFill>
                  <a:srgbClr val="DCE5F2"/>
                </a:solidFill>
                <a:latin typeface="Calibri" pitchFamily="34" charset="0"/>
                <a:ea typeface="Calibri" pitchFamily="34" charset="-122"/>
                <a:cs typeface="Calibri" pitchFamily="34" charset="-120"/>
              </a:rPr>
              <a:t>Streaming answer</a:t>
            </a:r>
            <a:endParaRPr lang="en-US" sz="1050" dirty="0"/>
          </a:p>
        </p:txBody>
      </p:sp>
      <p:sp>
        <p:nvSpPr>
          <p:cNvPr id="51" name="Shape 49"/>
          <p:cNvSpPr/>
          <p:nvPr/>
        </p:nvSpPr>
        <p:spPr>
          <a:xfrm>
            <a:off x="6601968" y="4434840"/>
            <a:ext cx="73152" cy="73152"/>
          </a:xfrm>
          <a:prstGeom prst="ellipse">
            <a:avLst/>
          </a:prstGeom>
          <a:solidFill>
            <a:srgbClr val="2DD4BF"/>
          </a:solidFill>
          <a:ln w="12700">
            <a:solidFill>
              <a:srgbClr val="2DD4BF">
                <a:alpha val="0"/>
              </a:srgbClr>
            </a:solidFill>
            <a:prstDash val="solid"/>
          </a:ln>
        </p:spPr>
      </p:sp>
      <p:sp>
        <p:nvSpPr>
          <p:cNvPr id="52" name="Text 50"/>
          <p:cNvSpPr txBox="1"/>
          <p:nvPr/>
        </p:nvSpPr>
        <p:spPr>
          <a:xfrm>
            <a:off x="6766560" y="4361688"/>
            <a:ext cx="1161288" cy="292608"/>
          </a:xfrm>
          <a:prstGeom prst="rect">
            <a:avLst/>
          </a:prstGeom>
          <a:noFill/>
          <a:ln/>
        </p:spPr>
        <p:txBody>
          <a:bodyPr wrap="square" lIns="0" tIns="0" rIns="0" bIns="0" rtlCol="0" anchor="ctr">
            <a:normAutofit/>
          </a:bodyPr>
          <a:lstStyle/>
          <a:p>
            <a:pPr marL="0" indent="0" algn="l">
              <a:buNone/>
            </a:pPr>
            <a:r>
              <a:rPr lang="en-US" sz="1050" dirty="0">
                <a:solidFill>
                  <a:srgbClr val="DCE5F2"/>
                </a:solidFill>
                <a:latin typeface="Calibri" pitchFamily="34" charset="0"/>
                <a:ea typeface="Calibri" pitchFamily="34" charset="-122"/>
                <a:cs typeface="Calibri" pitchFamily="34" charset="-120"/>
              </a:rPr>
              <a:t>Markdown code</a:t>
            </a:r>
            <a:endParaRPr lang="en-US" sz="1050" dirty="0"/>
          </a:p>
        </p:txBody>
      </p:sp>
      <p:sp>
        <p:nvSpPr>
          <p:cNvPr id="53" name="Shape 51"/>
          <p:cNvSpPr/>
          <p:nvPr/>
        </p:nvSpPr>
        <p:spPr>
          <a:xfrm>
            <a:off x="6601968" y="4882896"/>
            <a:ext cx="73152" cy="73152"/>
          </a:xfrm>
          <a:prstGeom prst="ellipse">
            <a:avLst/>
          </a:prstGeom>
          <a:solidFill>
            <a:srgbClr val="2DD4BF"/>
          </a:solidFill>
          <a:ln w="12700">
            <a:solidFill>
              <a:srgbClr val="2DD4BF">
                <a:alpha val="0"/>
              </a:srgbClr>
            </a:solidFill>
            <a:prstDash val="solid"/>
          </a:ln>
        </p:spPr>
      </p:sp>
      <p:sp>
        <p:nvSpPr>
          <p:cNvPr id="54" name="Text 52"/>
          <p:cNvSpPr txBox="1"/>
          <p:nvPr/>
        </p:nvSpPr>
        <p:spPr>
          <a:xfrm>
            <a:off x="6766560" y="4809744"/>
            <a:ext cx="1161288" cy="292608"/>
          </a:xfrm>
          <a:prstGeom prst="rect">
            <a:avLst/>
          </a:prstGeom>
          <a:noFill/>
          <a:ln/>
        </p:spPr>
        <p:txBody>
          <a:bodyPr wrap="square" lIns="0" tIns="0" rIns="0" bIns="0" rtlCol="0" anchor="ctr">
            <a:normAutofit/>
          </a:bodyPr>
          <a:lstStyle/>
          <a:p>
            <a:pPr marL="0" indent="0" algn="l">
              <a:buNone/>
            </a:pPr>
            <a:r>
              <a:rPr lang="en-US" sz="1050" dirty="0">
                <a:solidFill>
                  <a:srgbClr val="DCE5F2"/>
                </a:solidFill>
                <a:latin typeface="Calibri" pitchFamily="34" charset="0"/>
                <a:ea typeface="Calibri" pitchFamily="34" charset="-122"/>
                <a:cs typeface="Calibri" pitchFamily="34" charset="-120"/>
              </a:rPr>
              <a:t>Follow-up context</a:t>
            </a:r>
            <a:endParaRPr lang="en-US" sz="1050" dirty="0"/>
          </a:p>
        </p:txBody>
      </p:sp>
      <p:sp>
        <p:nvSpPr>
          <p:cNvPr id="55" name="Text 53"/>
          <p:cNvSpPr txBox="1"/>
          <p:nvPr/>
        </p:nvSpPr>
        <p:spPr>
          <a:xfrm>
            <a:off x="6419088" y="5577840"/>
            <a:ext cx="3749040" cy="182880"/>
          </a:xfrm>
          <a:prstGeom prst="rect">
            <a:avLst/>
          </a:prstGeom>
          <a:noFill/>
          <a:ln/>
        </p:spPr>
        <p:txBody>
          <a:bodyPr wrap="square" lIns="0" tIns="0" rIns="0" bIns="0" rtlCol="0" anchor="ctr">
            <a:normAutofit/>
          </a:bodyPr>
          <a:lstStyle/>
          <a:p>
            <a:pPr marL="0" indent="0" algn="l">
              <a:buNone/>
            </a:pPr>
            <a:r>
              <a:rPr lang="en-US" sz="950" i="1" dirty="0">
                <a:solidFill>
                  <a:srgbClr val="56657D"/>
                </a:solidFill>
                <a:latin typeface="Calibri" pitchFamily="34" charset="0"/>
                <a:ea typeface="Calibri" pitchFamily="34" charset="-122"/>
                <a:cs typeface="Calibri" pitchFamily="34" charset="-120"/>
              </a:rPr>
              <a:t>Scope: programming and software development</a:t>
            </a:r>
            <a:endParaRPr lang="en-US" sz="950" dirty="0"/>
          </a:p>
        </p:txBody>
      </p:sp>
      <p:sp>
        <p:nvSpPr>
          <p:cNvPr id="56" name="Text 54"/>
          <p:cNvSpPr txBox="1"/>
          <p:nvPr/>
        </p:nvSpPr>
        <p:spPr>
          <a:xfrm>
            <a:off x="11228832" y="6473952"/>
            <a:ext cx="365760" cy="164592"/>
          </a:xfrm>
          <a:prstGeom prst="rect">
            <a:avLst/>
          </a:prstGeom>
          <a:noFill/>
          <a:ln/>
        </p:spPr>
        <p:txBody>
          <a:bodyPr wrap="square" lIns="0" tIns="0" rIns="0" bIns="0" rtlCol="0" anchor="ctr">
            <a:normAutofit/>
          </a:bodyPr>
          <a:lstStyle/>
          <a:p>
            <a:pPr marL="0" indent="0" algn="r">
              <a:buNone/>
            </a:pPr>
            <a:r>
              <a:rPr lang="en-US" sz="900" b="1" dirty="0">
                <a:solidFill>
                  <a:srgbClr val="56657D"/>
                </a:solidFill>
                <a:latin typeface="Calibri" pitchFamily="34" charset="0"/>
                <a:ea typeface="Calibri" pitchFamily="34" charset="-122"/>
                <a:cs typeface="Calibri" pitchFamily="34" charset="-120"/>
              </a:rPr>
              <a:t>03</a:t>
            </a:r>
            <a:endParaRPr lang="en-US" sz="900" dirty="0"/>
          </a:p>
        </p:txBody>
      </p:sp>
      <p:sp>
        <p:nvSpPr>
          <p:cNvPr id="57" name="Text 55"/>
          <p:cNvSpPr txBox="1"/>
          <p:nvPr/>
        </p:nvSpPr>
        <p:spPr>
          <a:xfrm>
            <a:off x="566928" y="6473952"/>
            <a:ext cx="2011680" cy="164592"/>
          </a:xfrm>
          <a:prstGeom prst="rect">
            <a:avLst/>
          </a:prstGeom>
          <a:noFill/>
          <a:ln/>
        </p:spPr>
        <p:txBody>
          <a:bodyPr wrap="square" lIns="0" tIns="0" rIns="0" bIns="0" rtlCol="0" anchor="ctr">
            <a:normAutofit/>
          </a:bodyPr>
          <a:lstStyle/>
          <a:p>
            <a:pPr marL="0" indent="0" algn="l">
              <a:buNone/>
            </a:pPr>
            <a:r>
              <a:rPr lang="en-US" sz="800" b="1" kern="0" spc="110" dirty="0">
                <a:solidFill>
                  <a:srgbClr val="56657D"/>
                </a:solidFill>
                <a:latin typeface="Calibri" pitchFamily="34" charset="0"/>
                <a:ea typeface="Calibri" pitchFamily="34" charset="-122"/>
                <a:cs typeface="Calibri" pitchFamily="34" charset="-120"/>
              </a:rPr>
              <a:t>FUNCTIONALITY</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522"/>
        </a:solidFill>
        <a:effectLst/>
      </p:bgPr>
    </p:bg>
    <p:spTree>
      <p:nvGrpSpPr>
        <p:cNvPr id="1" name=""/>
        <p:cNvGrpSpPr/>
        <p:nvPr/>
      </p:nvGrpSpPr>
      <p:grpSpPr>
        <a:xfrm>
          <a:off x="0" y="0"/>
          <a:ext cx="0" cy="0"/>
          <a:chOff x="0" y="0"/>
          <a:chExt cx="0" cy="0"/>
        </a:xfrm>
      </p:grpSpPr>
      <p:sp>
        <p:nvSpPr>
          <p:cNvPr id="2" name="Shape 0"/>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3" name="Text 1"/>
          <p:cNvSpPr txBox="1"/>
          <p:nvPr/>
        </p:nvSpPr>
        <p:spPr>
          <a:xfrm>
            <a:off x="566928" y="448056"/>
            <a:ext cx="132588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03 / HOW IT WORKS</a:t>
            </a:r>
            <a:endParaRPr lang="en-US" sz="850" dirty="0"/>
          </a:p>
        </p:txBody>
      </p:sp>
      <p:sp>
        <p:nvSpPr>
          <p:cNvPr id="4" name="Text 2"/>
          <p:cNvSpPr txBox="1"/>
          <p:nvPr/>
        </p:nvSpPr>
        <p:spPr>
          <a:xfrm>
            <a:off x="566928" y="841248"/>
            <a:ext cx="7955280" cy="512064"/>
          </a:xfrm>
          <a:prstGeom prst="rect">
            <a:avLst/>
          </a:prstGeom>
          <a:noFill/>
          <a:ln/>
        </p:spPr>
        <p:txBody>
          <a:bodyPr wrap="square" lIns="0" tIns="0" rIns="0" bIns="0" rtlCol="0" anchor="ctr">
            <a:normAutofit/>
          </a:bodyPr>
          <a:lstStyle/>
          <a:p>
            <a:pPr marL="0" indent="0" algn="l">
              <a:buNone/>
            </a:pPr>
            <a:r>
              <a:rPr lang="en-US" sz="2900" b="1" dirty="0">
                <a:solidFill>
                  <a:srgbClr val="F8FAFC"/>
                </a:solidFill>
                <a:latin typeface="Cambria" pitchFamily="34" charset="0"/>
                <a:ea typeface="Cambria" pitchFamily="34" charset="-122"/>
                <a:cs typeface="Cambria" pitchFamily="34" charset="-120"/>
              </a:rPr>
              <a:t>A prompt travels through a focused Android pipeline.</a:t>
            </a:r>
            <a:endParaRPr lang="en-US" sz="2900" dirty="0"/>
          </a:p>
        </p:txBody>
      </p:sp>
      <p:sp>
        <p:nvSpPr>
          <p:cNvPr id="5" name="Text 3"/>
          <p:cNvSpPr txBox="1"/>
          <p:nvPr/>
        </p:nvSpPr>
        <p:spPr>
          <a:xfrm>
            <a:off x="566928" y="1664208"/>
            <a:ext cx="8412480" cy="292608"/>
          </a:xfrm>
          <a:prstGeom prst="rect">
            <a:avLst/>
          </a:prstGeom>
          <a:noFill/>
          <a:ln/>
        </p:spPr>
        <p:txBody>
          <a:bodyPr wrap="square" lIns="0" tIns="0" rIns="0" bIns="0" rtlCol="0" anchor="ctr">
            <a:normAutofit/>
          </a:bodyPr>
          <a:lstStyle/>
          <a:p>
            <a:pPr marL="0" indent="0" algn="l">
              <a:buNone/>
            </a:pPr>
            <a:r>
              <a:rPr lang="en-US" sz="1350" dirty="0">
                <a:solidFill>
                  <a:srgbClr val="8EA0B8"/>
                </a:solidFill>
                <a:latin typeface="Calibri" pitchFamily="34" charset="0"/>
                <a:ea typeface="Calibri" pitchFamily="34" charset="-122"/>
                <a:cs typeface="Calibri" pitchFamily="34" charset="-120"/>
              </a:rPr>
              <a:t>The architecture separates the interface, state, orchestration, remote AI response, and local persistence.</a:t>
            </a:r>
            <a:endParaRPr lang="en-US" sz="1350" dirty="0"/>
          </a:p>
        </p:txBody>
      </p:sp>
      <p:sp>
        <p:nvSpPr>
          <p:cNvPr id="6" name="Shape 4"/>
          <p:cNvSpPr/>
          <p:nvPr/>
        </p:nvSpPr>
        <p:spPr>
          <a:xfrm>
            <a:off x="685800" y="2743200"/>
            <a:ext cx="1508760" cy="1005840"/>
          </a:xfrm>
          <a:prstGeom prst="roundRect">
            <a:avLst>
              <a:gd name="adj" fmla="val 14545"/>
            </a:avLst>
          </a:prstGeom>
          <a:solidFill>
            <a:srgbClr val="1B2437"/>
          </a:solidFill>
          <a:ln w="12700">
            <a:solidFill>
              <a:srgbClr val="FF8A7A"/>
            </a:solidFill>
            <a:prstDash val="solid"/>
          </a:ln>
        </p:spPr>
      </p:sp>
      <p:sp>
        <p:nvSpPr>
          <p:cNvPr id="7" name="Shape 5"/>
          <p:cNvSpPr/>
          <p:nvPr/>
        </p:nvSpPr>
        <p:spPr>
          <a:xfrm>
            <a:off x="83210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8" name="Text 6"/>
          <p:cNvSpPr txBox="1"/>
          <p:nvPr/>
        </p:nvSpPr>
        <p:spPr>
          <a:xfrm>
            <a:off x="832104" y="2898648"/>
            <a:ext cx="65836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F8A7A"/>
                </a:solidFill>
                <a:latin typeface="Calibri" pitchFamily="34" charset="0"/>
                <a:ea typeface="Calibri" pitchFamily="34" charset="-122"/>
                <a:cs typeface="Calibri" pitchFamily="34" charset="-120"/>
              </a:rPr>
              <a:t>USER</a:t>
            </a:r>
            <a:endParaRPr lang="en-US" sz="850" dirty="0"/>
          </a:p>
        </p:txBody>
      </p:sp>
      <p:sp>
        <p:nvSpPr>
          <p:cNvPr id="9" name="Text 7"/>
          <p:cNvSpPr txBox="1"/>
          <p:nvPr/>
        </p:nvSpPr>
        <p:spPr>
          <a:xfrm>
            <a:off x="832104" y="3200400"/>
            <a:ext cx="1216152" cy="201168"/>
          </a:xfrm>
          <a:prstGeom prst="rect">
            <a:avLst/>
          </a:prstGeom>
          <a:noFill/>
          <a:ln/>
        </p:spPr>
        <p:txBody>
          <a:bodyPr wrap="square" lIns="0" tIns="0" rIns="0" bIns="0" rtlCol="0" anchor="ctr">
            <a:normAutofit/>
          </a:bodyPr>
          <a:lstStyle/>
          <a:p>
            <a:pPr marL="0" indent="0" algn="l">
              <a:buNone/>
            </a:pPr>
            <a:r>
              <a:rPr lang="en-US" sz="1320" b="1" dirty="0">
                <a:solidFill>
                  <a:srgbClr val="F8FAFC"/>
                </a:solidFill>
                <a:latin typeface="Calibri" pitchFamily="34" charset="0"/>
                <a:ea typeface="Calibri" pitchFamily="34" charset="-122"/>
                <a:cs typeface="Calibri" pitchFamily="34" charset="-120"/>
              </a:rPr>
              <a:t>Coding prompt</a:t>
            </a:r>
            <a:endParaRPr lang="en-US" sz="1320" dirty="0"/>
          </a:p>
        </p:txBody>
      </p:sp>
      <p:sp>
        <p:nvSpPr>
          <p:cNvPr id="10" name="Text 8"/>
          <p:cNvSpPr txBox="1"/>
          <p:nvPr/>
        </p:nvSpPr>
        <p:spPr>
          <a:xfrm>
            <a:off x="832104" y="3465576"/>
            <a:ext cx="1216152" cy="164592"/>
          </a:xfrm>
          <a:prstGeom prst="rect">
            <a:avLst/>
          </a:prstGeom>
          <a:noFill/>
          <a:ln/>
        </p:spPr>
        <p:txBody>
          <a:bodyPr wrap="square" lIns="0" tIns="0" rIns="0" bIns="0" rtlCol="0" anchor="ctr">
            <a:normAutofit/>
          </a:bodyPr>
          <a:lstStyle/>
          <a:p>
            <a:pPr marL="0" indent="0" algn="l">
              <a:buNone/>
            </a:pPr>
            <a:r>
              <a:rPr lang="en-US" sz="950" dirty="0">
                <a:solidFill>
                  <a:srgbClr val="8EA0B8"/>
                </a:solidFill>
                <a:latin typeface="Calibri" pitchFamily="34" charset="0"/>
                <a:ea typeface="Calibri" pitchFamily="34" charset="-122"/>
                <a:cs typeface="Calibri" pitchFamily="34" charset="-120"/>
              </a:rPr>
              <a:t>Question or example</a:t>
            </a:r>
            <a:endParaRPr lang="en-US" sz="950" dirty="0"/>
          </a:p>
        </p:txBody>
      </p:sp>
      <p:sp>
        <p:nvSpPr>
          <p:cNvPr id="11" name="Shape 9"/>
          <p:cNvSpPr/>
          <p:nvPr/>
        </p:nvSpPr>
        <p:spPr>
          <a:xfrm>
            <a:off x="2194560" y="3246120"/>
            <a:ext cx="411480" cy="0"/>
          </a:xfrm>
          <a:prstGeom prst="line">
            <a:avLst/>
          </a:prstGeom>
          <a:noFill/>
          <a:ln w="22860">
            <a:solidFill>
              <a:srgbClr val="2DD4BF"/>
            </a:solidFill>
            <a:prstDash val="solid"/>
            <a:tailEnd type="triangle"/>
          </a:ln>
        </p:spPr>
      </p:sp>
      <p:sp>
        <p:nvSpPr>
          <p:cNvPr id="12" name="Shape 10"/>
          <p:cNvSpPr/>
          <p:nvPr/>
        </p:nvSpPr>
        <p:spPr>
          <a:xfrm>
            <a:off x="2606040" y="2743200"/>
            <a:ext cx="1645920" cy="1005840"/>
          </a:xfrm>
          <a:prstGeom prst="roundRect">
            <a:avLst>
              <a:gd name="adj" fmla="val 14545"/>
            </a:avLst>
          </a:prstGeom>
          <a:solidFill>
            <a:srgbClr val="1B2437"/>
          </a:solidFill>
          <a:ln w="12700">
            <a:solidFill>
              <a:srgbClr val="6D5DFB"/>
            </a:solidFill>
            <a:prstDash val="solid"/>
          </a:ln>
        </p:spPr>
      </p:sp>
      <p:sp>
        <p:nvSpPr>
          <p:cNvPr id="13" name="Shape 11"/>
          <p:cNvSpPr/>
          <p:nvPr/>
        </p:nvSpPr>
        <p:spPr>
          <a:xfrm>
            <a:off x="275234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14" name="Text 12"/>
          <p:cNvSpPr txBox="1"/>
          <p:nvPr/>
        </p:nvSpPr>
        <p:spPr>
          <a:xfrm>
            <a:off x="2752344" y="2898648"/>
            <a:ext cx="65836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6D5DFB"/>
                </a:solidFill>
                <a:latin typeface="Calibri" pitchFamily="34" charset="0"/>
                <a:ea typeface="Calibri" pitchFamily="34" charset="-122"/>
                <a:cs typeface="Calibri" pitchFamily="34" charset="-120"/>
              </a:rPr>
              <a:t>UI</a:t>
            </a:r>
            <a:endParaRPr lang="en-US" sz="850" dirty="0"/>
          </a:p>
        </p:txBody>
      </p:sp>
      <p:sp>
        <p:nvSpPr>
          <p:cNvPr id="15" name="Text 13"/>
          <p:cNvSpPr txBox="1"/>
          <p:nvPr/>
        </p:nvSpPr>
        <p:spPr>
          <a:xfrm>
            <a:off x="2752344" y="3200400"/>
            <a:ext cx="1353312" cy="201168"/>
          </a:xfrm>
          <a:prstGeom prst="rect">
            <a:avLst/>
          </a:prstGeom>
          <a:noFill/>
          <a:ln/>
        </p:spPr>
        <p:txBody>
          <a:bodyPr wrap="square" lIns="0" tIns="0" rIns="0" bIns="0" rtlCol="0" anchor="ctr">
            <a:normAutofit/>
          </a:bodyPr>
          <a:lstStyle/>
          <a:p>
            <a:pPr marL="0" indent="0" algn="l">
              <a:buNone/>
            </a:pPr>
            <a:r>
              <a:rPr lang="en-US" sz="1320" b="1" dirty="0">
                <a:solidFill>
                  <a:srgbClr val="F8FAFC"/>
                </a:solidFill>
                <a:latin typeface="Calibri" pitchFamily="34" charset="0"/>
                <a:ea typeface="Calibri" pitchFamily="34" charset="-122"/>
                <a:cs typeface="Calibri" pitchFamily="34" charset="-120"/>
              </a:rPr>
              <a:t>Compose screen</a:t>
            </a:r>
            <a:endParaRPr lang="en-US" sz="1320" dirty="0"/>
          </a:p>
        </p:txBody>
      </p:sp>
      <p:sp>
        <p:nvSpPr>
          <p:cNvPr id="16" name="Text 14"/>
          <p:cNvSpPr txBox="1"/>
          <p:nvPr/>
        </p:nvSpPr>
        <p:spPr>
          <a:xfrm>
            <a:off x="2752344" y="3465576"/>
            <a:ext cx="1353312" cy="164592"/>
          </a:xfrm>
          <a:prstGeom prst="rect">
            <a:avLst/>
          </a:prstGeom>
          <a:noFill/>
          <a:ln/>
        </p:spPr>
        <p:txBody>
          <a:bodyPr wrap="square" lIns="0" tIns="0" rIns="0" bIns="0" rtlCol="0" anchor="ctr">
            <a:normAutofit/>
          </a:bodyPr>
          <a:lstStyle/>
          <a:p>
            <a:pPr marL="0" indent="0" algn="l">
              <a:buNone/>
            </a:pPr>
            <a:r>
              <a:rPr lang="en-US" sz="950" dirty="0">
                <a:solidFill>
                  <a:srgbClr val="8EA0B8"/>
                </a:solidFill>
                <a:latin typeface="Calibri" pitchFamily="34" charset="0"/>
                <a:ea typeface="Calibri" pitchFamily="34" charset="-122"/>
                <a:cs typeface="Calibri" pitchFamily="34" charset="-120"/>
              </a:rPr>
              <a:t>Chat + input</a:t>
            </a:r>
            <a:endParaRPr lang="en-US" sz="950" dirty="0"/>
          </a:p>
        </p:txBody>
      </p:sp>
      <p:sp>
        <p:nvSpPr>
          <p:cNvPr id="17" name="Shape 15"/>
          <p:cNvSpPr/>
          <p:nvPr/>
        </p:nvSpPr>
        <p:spPr>
          <a:xfrm>
            <a:off x="4251960" y="3246120"/>
            <a:ext cx="411480" cy="0"/>
          </a:xfrm>
          <a:prstGeom prst="line">
            <a:avLst/>
          </a:prstGeom>
          <a:noFill/>
          <a:ln w="22860">
            <a:solidFill>
              <a:srgbClr val="2DD4BF"/>
            </a:solidFill>
            <a:prstDash val="solid"/>
            <a:tailEnd type="triangle"/>
          </a:ln>
        </p:spPr>
      </p:sp>
      <p:sp>
        <p:nvSpPr>
          <p:cNvPr id="18" name="Shape 16"/>
          <p:cNvSpPr/>
          <p:nvPr/>
        </p:nvSpPr>
        <p:spPr>
          <a:xfrm>
            <a:off x="4663440" y="2743200"/>
            <a:ext cx="1737360" cy="1005840"/>
          </a:xfrm>
          <a:prstGeom prst="roundRect">
            <a:avLst>
              <a:gd name="adj" fmla="val 14545"/>
            </a:avLst>
          </a:prstGeom>
          <a:solidFill>
            <a:srgbClr val="1B2437"/>
          </a:solidFill>
          <a:ln w="12700">
            <a:solidFill>
              <a:srgbClr val="0F766E"/>
            </a:solidFill>
            <a:prstDash val="solid"/>
          </a:ln>
        </p:spPr>
      </p:sp>
      <p:sp>
        <p:nvSpPr>
          <p:cNvPr id="19" name="Shape 17"/>
          <p:cNvSpPr/>
          <p:nvPr/>
        </p:nvSpPr>
        <p:spPr>
          <a:xfrm>
            <a:off x="480974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20" name="Text 18"/>
          <p:cNvSpPr txBox="1"/>
          <p:nvPr/>
        </p:nvSpPr>
        <p:spPr>
          <a:xfrm>
            <a:off x="4809744" y="2898648"/>
            <a:ext cx="65836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0F766E"/>
                </a:solidFill>
                <a:latin typeface="Calibri" pitchFamily="34" charset="0"/>
                <a:ea typeface="Calibri" pitchFamily="34" charset="-122"/>
                <a:cs typeface="Calibri" pitchFamily="34" charset="-120"/>
              </a:rPr>
              <a:t>STATE</a:t>
            </a:r>
            <a:endParaRPr lang="en-US" sz="850" dirty="0"/>
          </a:p>
        </p:txBody>
      </p:sp>
      <p:sp>
        <p:nvSpPr>
          <p:cNvPr id="21" name="Text 19"/>
          <p:cNvSpPr txBox="1"/>
          <p:nvPr/>
        </p:nvSpPr>
        <p:spPr>
          <a:xfrm>
            <a:off x="4809744" y="3200400"/>
            <a:ext cx="1444752" cy="201168"/>
          </a:xfrm>
          <a:prstGeom prst="rect">
            <a:avLst/>
          </a:prstGeom>
          <a:noFill/>
          <a:ln/>
        </p:spPr>
        <p:txBody>
          <a:bodyPr wrap="square" lIns="0" tIns="0" rIns="0" bIns="0" rtlCol="0" anchor="ctr">
            <a:normAutofit/>
          </a:bodyPr>
          <a:lstStyle/>
          <a:p>
            <a:pPr marL="0" indent="0" algn="l">
              <a:buNone/>
            </a:pPr>
            <a:r>
              <a:rPr lang="en-US" sz="1320" b="1" dirty="0">
                <a:solidFill>
                  <a:srgbClr val="F8FAFC"/>
                </a:solidFill>
                <a:latin typeface="Calibri" pitchFamily="34" charset="0"/>
                <a:ea typeface="Calibri" pitchFamily="34" charset="-122"/>
                <a:cs typeface="Calibri" pitchFamily="34" charset="-120"/>
              </a:rPr>
              <a:t>ChatViewModel</a:t>
            </a:r>
            <a:endParaRPr lang="en-US" sz="1320" dirty="0"/>
          </a:p>
        </p:txBody>
      </p:sp>
      <p:sp>
        <p:nvSpPr>
          <p:cNvPr id="22" name="Text 20"/>
          <p:cNvSpPr txBox="1"/>
          <p:nvPr/>
        </p:nvSpPr>
        <p:spPr>
          <a:xfrm>
            <a:off x="4809744" y="3465576"/>
            <a:ext cx="1444752" cy="164592"/>
          </a:xfrm>
          <a:prstGeom prst="rect">
            <a:avLst/>
          </a:prstGeom>
          <a:noFill/>
          <a:ln/>
        </p:spPr>
        <p:txBody>
          <a:bodyPr wrap="square" lIns="0" tIns="0" rIns="0" bIns="0" rtlCol="0" anchor="ctr">
            <a:normAutofit/>
          </a:bodyPr>
          <a:lstStyle/>
          <a:p>
            <a:pPr marL="0" indent="0" algn="l">
              <a:buNone/>
            </a:pPr>
            <a:r>
              <a:rPr lang="en-US" sz="950" dirty="0">
                <a:solidFill>
                  <a:srgbClr val="8EA0B8"/>
                </a:solidFill>
                <a:latin typeface="Calibri" pitchFamily="34" charset="0"/>
                <a:ea typeface="Calibri" pitchFamily="34" charset="-122"/>
                <a:cs typeface="Calibri" pitchFamily="34" charset="-120"/>
              </a:rPr>
              <a:t>StateFlow</a:t>
            </a:r>
            <a:endParaRPr lang="en-US" sz="950" dirty="0"/>
          </a:p>
        </p:txBody>
      </p:sp>
      <p:sp>
        <p:nvSpPr>
          <p:cNvPr id="23" name="Shape 21"/>
          <p:cNvSpPr/>
          <p:nvPr/>
        </p:nvSpPr>
        <p:spPr>
          <a:xfrm>
            <a:off x="6400800" y="3246120"/>
            <a:ext cx="411480" cy="0"/>
          </a:xfrm>
          <a:prstGeom prst="line">
            <a:avLst/>
          </a:prstGeom>
          <a:noFill/>
          <a:ln w="22860">
            <a:solidFill>
              <a:srgbClr val="2DD4BF"/>
            </a:solidFill>
            <a:prstDash val="solid"/>
            <a:tailEnd type="triangle"/>
          </a:ln>
        </p:spPr>
      </p:sp>
      <p:sp>
        <p:nvSpPr>
          <p:cNvPr id="24" name="Shape 22"/>
          <p:cNvSpPr/>
          <p:nvPr/>
        </p:nvSpPr>
        <p:spPr>
          <a:xfrm>
            <a:off x="6812280" y="2743200"/>
            <a:ext cx="1874520" cy="1005840"/>
          </a:xfrm>
          <a:prstGeom prst="roundRect">
            <a:avLst>
              <a:gd name="adj" fmla="val 14545"/>
            </a:avLst>
          </a:prstGeom>
          <a:solidFill>
            <a:srgbClr val="1B2437"/>
          </a:solidFill>
          <a:ln w="12700">
            <a:solidFill>
              <a:srgbClr val="F7C873"/>
            </a:solidFill>
            <a:prstDash val="solid"/>
          </a:ln>
        </p:spPr>
      </p:sp>
      <p:sp>
        <p:nvSpPr>
          <p:cNvPr id="25" name="Shape 23"/>
          <p:cNvSpPr/>
          <p:nvPr/>
        </p:nvSpPr>
        <p:spPr>
          <a:xfrm>
            <a:off x="6958584" y="2889504"/>
            <a:ext cx="658368" cy="256032"/>
          </a:xfrm>
          <a:prstGeom prst="roundRect">
            <a:avLst>
              <a:gd name="adj" fmla="val 42857"/>
            </a:avLst>
          </a:prstGeom>
          <a:solidFill>
            <a:srgbClr val="151C2D"/>
          </a:solidFill>
          <a:ln w="12700">
            <a:solidFill>
              <a:srgbClr val="151C2D">
                <a:alpha val="0"/>
              </a:srgbClr>
            </a:solidFill>
            <a:prstDash val="solid"/>
          </a:ln>
        </p:spPr>
      </p:sp>
      <p:sp>
        <p:nvSpPr>
          <p:cNvPr id="26" name="Text 24"/>
          <p:cNvSpPr txBox="1"/>
          <p:nvPr/>
        </p:nvSpPr>
        <p:spPr>
          <a:xfrm>
            <a:off x="6958584" y="2898648"/>
            <a:ext cx="65836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7C873"/>
                </a:solidFill>
                <a:latin typeface="Calibri" pitchFamily="34" charset="0"/>
                <a:ea typeface="Calibri" pitchFamily="34" charset="-122"/>
                <a:cs typeface="Calibri" pitchFamily="34" charset="-120"/>
              </a:rPr>
              <a:t>LOGIC</a:t>
            </a:r>
            <a:endParaRPr lang="en-US" sz="850" dirty="0"/>
          </a:p>
        </p:txBody>
      </p:sp>
      <p:sp>
        <p:nvSpPr>
          <p:cNvPr id="27" name="Text 25"/>
          <p:cNvSpPr txBox="1"/>
          <p:nvPr/>
        </p:nvSpPr>
        <p:spPr>
          <a:xfrm>
            <a:off x="6958584" y="3200400"/>
            <a:ext cx="1581912" cy="201168"/>
          </a:xfrm>
          <a:prstGeom prst="rect">
            <a:avLst/>
          </a:prstGeom>
          <a:noFill/>
          <a:ln/>
        </p:spPr>
        <p:txBody>
          <a:bodyPr wrap="square" lIns="0" tIns="0" rIns="0" bIns="0" rtlCol="0" anchor="ctr">
            <a:normAutofit/>
          </a:bodyPr>
          <a:lstStyle/>
          <a:p>
            <a:pPr marL="0" indent="0" algn="l">
              <a:buNone/>
            </a:pPr>
            <a:r>
              <a:rPr lang="en-US" sz="1320" b="1" dirty="0">
                <a:solidFill>
                  <a:srgbClr val="F8FAFC"/>
                </a:solidFill>
                <a:latin typeface="Calibri" pitchFamily="34" charset="0"/>
                <a:ea typeface="Calibri" pitchFamily="34" charset="-122"/>
                <a:cs typeface="Calibri" pitchFamily="34" charset="-120"/>
              </a:rPr>
              <a:t>ChatRepository</a:t>
            </a:r>
            <a:endParaRPr lang="en-US" sz="1320" dirty="0"/>
          </a:p>
        </p:txBody>
      </p:sp>
      <p:sp>
        <p:nvSpPr>
          <p:cNvPr id="28" name="Text 26"/>
          <p:cNvSpPr txBox="1"/>
          <p:nvPr/>
        </p:nvSpPr>
        <p:spPr>
          <a:xfrm>
            <a:off x="6958584" y="3465576"/>
            <a:ext cx="1581912" cy="164592"/>
          </a:xfrm>
          <a:prstGeom prst="rect">
            <a:avLst/>
          </a:prstGeom>
          <a:noFill/>
          <a:ln/>
        </p:spPr>
        <p:txBody>
          <a:bodyPr wrap="square" lIns="0" tIns="0" rIns="0" bIns="0" rtlCol="0" anchor="ctr">
            <a:normAutofit/>
          </a:bodyPr>
          <a:lstStyle/>
          <a:p>
            <a:pPr marL="0" indent="0" algn="l">
              <a:buNone/>
            </a:pPr>
            <a:r>
              <a:rPr lang="en-US" sz="950" dirty="0">
                <a:solidFill>
                  <a:srgbClr val="8EA0B8"/>
                </a:solidFill>
                <a:latin typeface="Calibri" pitchFamily="34" charset="0"/>
                <a:ea typeface="Calibri" pitchFamily="34" charset="-122"/>
                <a:cs typeface="Calibri" pitchFamily="34" charset="-120"/>
              </a:rPr>
              <a:t>Context + stream</a:t>
            </a:r>
            <a:endParaRPr lang="en-US" sz="950" dirty="0"/>
          </a:p>
        </p:txBody>
      </p:sp>
      <p:sp>
        <p:nvSpPr>
          <p:cNvPr id="29" name="Shape 27"/>
          <p:cNvSpPr/>
          <p:nvPr/>
        </p:nvSpPr>
        <p:spPr>
          <a:xfrm>
            <a:off x="9189720" y="1965960"/>
            <a:ext cx="2359152" cy="1353312"/>
          </a:xfrm>
          <a:prstGeom prst="roundRect">
            <a:avLst>
              <a:gd name="adj" fmla="val 10811"/>
            </a:avLst>
          </a:prstGeom>
          <a:solidFill>
            <a:srgbClr val="1B2437"/>
          </a:solidFill>
          <a:ln w="12700">
            <a:solidFill>
              <a:srgbClr val="8B7EFF"/>
            </a:solidFill>
            <a:prstDash val="solid"/>
          </a:ln>
        </p:spPr>
      </p:sp>
      <p:sp>
        <p:nvSpPr>
          <p:cNvPr id="30" name="Shape 28"/>
          <p:cNvSpPr/>
          <p:nvPr/>
        </p:nvSpPr>
        <p:spPr>
          <a:xfrm>
            <a:off x="9400032" y="2212848"/>
            <a:ext cx="685800" cy="256032"/>
          </a:xfrm>
          <a:prstGeom prst="roundRect">
            <a:avLst>
              <a:gd name="adj" fmla="val 42857"/>
            </a:avLst>
          </a:prstGeom>
          <a:solidFill>
            <a:srgbClr val="151C2D"/>
          </a:solidFill>
          <a:ln w="12700">
            <a:solidFill>
              <a:srgbClr val="151C2D">
                <a:alpha val="0"/>
              </a:srgbClr>
            </a:solidFill>
            <a:prstDash val="solid"/>
          </a:ln>
        </p:spPr>
      </p:sp>
      <p:sp>
        <p:nvSpPr>
          <p:cNvPr id="31" name="Text 29"/>
          <p:cNvSpPr txBox="1"/>
          <p:nvPr/>
        </p:nvSpPr>
        <p:spPr>
          <a:xfrm>
            <a:off x="9400032" y="2221992"/>
            <a:ext cx="68580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8B7EFF"/>
                </a:solidFill>
                <a:latin typeface="Calibri" pitchFamily="34" charset="0"/>
                <a:ea typeface="Calibri" pitchFamily="34" charset="-122"/>
                <a:cs typeface="Calibri" pitchFamily="34" charset="-120"/>
              </a:rPr>
              <a:t>REMOTE</a:t>
            </a:r>
            <a:endParaRPr lang="en-US" sz="850" dirty="0"/>
          </a:p>
        </p:txBody>
      </p:sp>
      <p:sp>
        <p:nvSpPr>
          <p:cNvPr id="32" name="Text 30"/>
          <p:cNvSpPr txBox="1"/>
          <p:nvPr/>
        </p:nvSpPr>
        <p:spPr>
          <a:xfrm>
            <a:off x="9400032" y="2587752"/>
            <a:ext cx="1828800" cy="210312"/>
          </a:xfrm>
          <a:prstGeom prst="rect">
            <a:avLst/>
          </a:prstGeom>
          <a:noFill/>
          <a:ln/>
        </p:spPr>
        <p:txBody>
          <a:bodyPr wrap="square" lIns="0" tIns="0" rIns="0" bIns="0" rtlCol="0" anchor="ctr">
            <a:normAutofit/>
          </a:bodyPr>
          <a:lstStyle/>
          <a:p>
            <a:pPr marL="0" indent="0" algn="l">
              <a:buNone/>
            </a:pPr>
            <a:r>
              <a:rPr lang="en-US" sz="1400" b="1" dirty="0">
                <a:solidFill>
                  <a:srgbClr val="F8FAFC"/>
                </a:solidFill>
                <a:latin typeface="Calibri" pitchFamily="34" charset="0"/>
                <a:ea typeface="Calibri" pitchFamily="34" charset="-122"/>
                <a:cs typeface="Calibri" pitchFamily="34" charset="-120"/>
              </a:rPr>
              <a:t>OpenRouter API</a:t>
            </a:r>
            <a:endParaRPr lang="en-US" sz="1400" dirty="0"/>
          </a:p>
        </p:txBody>
      </p:sp>
      <p:sp>
        <p:nvSpPr>
          <p:cNvPr id="33" name="Text 31"/>
          <p:cNvSpPr txBox="1"/>
          <p:nvPr/>
        </p:nvSpPr>
        <p:spPr>
          <a:xfrm>
            <a:off x="9400032" y="2871216"/>
            <a:ext cx="1783080" cy="182880"/>
          </a:xfrm>
          <a:prstGeom prst="rect">
            <a:avLst/>
          </a:prstGeom>
          <a:noFill/>
          <a:ln/>
        </p:spPr>
        <p:txBody>
          <a:bodyPr wrap="square" lIns="0" tIns="0" rIns="0" bIns="0" rtlCol="0" anchor="ctr">
            <a:normAutofit/>
          </a:bodyPr>
          <a:lstStyle/>
          <a:p>
            <a:pPr marL="0" indent="0" algn="l">
              <a:buNone/>
            </a:pPr>
            <a:r>
              <a:rPr lang="en-US" sz="1000" dirty="0">
                <a:solidFill>
                  <a:srgbClr val="8EA0B8"/>
                </a:solidFill>
                <a:latin typeface="Calibri" pitchFamily="34" charset="0"/>
                <a:ea typeface="Calibri" pitchFamily="34" charset="-122"/>
                <a:cs typeface="Calibri" pitchFamily="34" charset="-120"/>
              </a:rPr>
              <a:t>Streaming model response</a:t>
            </a:r>
            <a:endParaRPr lang="en-US" sz="1000" dirty="0"/>
          </a:p>
        </p:txBody>
      </p:sp>
      <p:sp>
        <p:nvSpPr>
          <p:cNvPr id="34" name="Shape 32"/>
          <p:cNvSpPr/>
          <p:nvPr/>
        </p:nvSpPr>
        <p:spPr>
          <a:xfrm>
            <a:off x="9189720" y="3767328"/>
            <a:ext cx="2359152" cy="1353312"/>
          </a:xfrm>
          <a:prstGeom prst="roundRect">
            <a:avLst>
              <a:gd name="adj" fmla="val 10811"/>
            </a:avLst>
          </a:prstGeom>
          <a:solidFill>
            <a:srgbClr val="1B2437"/>
          </a:solidFill>
          <a:ln w="12700">
            <a:solidFill>
              <a:srgbClr val="0F766E"/>
            </a:solidFill>
            <a:prstDash val="solid"/>
          </a:ln>
        </p:spPr>
      </p:sp>
      <p:sp>
        <p:nvSpPr>
          <p:cNvPr id="35" name="Shape 33"/>
          <p:cNvSpPr/>
          <p:nvPr/>
        </p:nvSpPr>
        <p:spPr>
          <a:xfrm>
            <a:off x="9400032" y="4014216"/>
            <a:ext cx="621792" cy="256032"/>
          </a:xfrm>
          <a:prstGeom prst="roundRect">
            <a:avLst>
              <a:gd name="adj" fmla="val 42857"/>
            </a:avLst>
          </a:prstGeom>
          <a:solidFill>
            <a:srgbClr val="151C2D"/>
          </a:solidFill>
          <a:ln w="12700">
            <a:solidFill>
              <a:srgbClr val="151C2D">
                <a:alpha val="0"/>
              </a:srgbClr>
            </a:solidFill>
            <a:prstDash val="solid"/>
          </a:ln>
        </p:spPr>
      </p:sp>
      <p:sp>
        <p:nvSpPr>
          <p:cNvPr id="36" name="Text 34"/>
          <p:cNvSpPr txBox="1"/>
          <p:nvPr/>
        </p:nvSpPr>
        <p:spPr>
          <a:xfrm>
            <a:off x="9400032" y="4023360"/>
            <a:ext cx="621792"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0F766E"/>
                </a:solidFill>
                <a:latin typeface="Calibri" pitchFamily="34" charset="0"/>
                <a:ea typeface="Calibri" pitchFamily="34" charset="-122"/>
                <a:cs typeface="Calibri" pitchFamily="34" charset="-120"/>
              </a:rPr>
              <a:t>LOCAL</a:t>
            </a:r>
            <a:endParaRPr lang="en-US" sz="850" dirty="0"/>
          </a:p>
        </p:txBody>
      </p:sp>
      <p:sp>
        <p:nvSpPr>
          <p:cNvPr id="37" name="Text 35"/>
          <p:cNvSpPr txBox="1"/>
          <p:nvPr/>
        </p:nvSpPr>
        <p:spPr>
          <a:xfrm>
            <a:off x="9400032" y="4389120"/>
            <a:ext cx="1828800" cy="210312"/>
          </a:xfrm>
          <a:prstGeom prst="rect">
            <a:avLst/>
          </a:prstGeom>
          <a:noFill/>
          <a:ln/>
        </p:spPr>
        <p:txBody>
          <a:bodyPr wrap="square" lIns="0" tIns="0" rIns="0" bIns="0" rtlCol="0" anchor="ctr">
            <a:normAutofit/>
          </a:bodyPr>
          <a:lstStyle/>
          <a:p>
            <a:pPr marL="0" indent="0" algn="l">
              <a:buNone/>
            </a:pPr>
            <a:r>
              <a:rPr lang="en-US" sz="1400" b="1" dirty="0">
                <a:solidFill>
                  <a:srgbClr val="F8FAFC"/>
                </a:solidFill>
                <a:latin typeface="Calibri" pitchFamily="34" charset="0"/>
                <a:ea typeface="Calibri" pitchFamily="34" charset="-122"/>
                <a:cs typeface="Calibri" pitchFamily="34" charset="-120"/>
              </a:rPr>
              <a:t>Room / SQLite</a:t>
            </a:r>
            <a:endParaRPr lang="en-US" sz="1400" dirty="0"/>
          </a:p>
        </p:txBody>
      </p:sp>
      <p:sp>
        <p:nvSpPr>
          <p:cNvPr id="38" name="Text 36"/>
          <p:cNvSpPr txBox="1"/>
          <p:nvPr/>
        </p:nvSpPr>
        <p:spPr>
          <a:xfrm>
            <a:off x="9400032" y="4672584"/>
            <a:ext cx="1810512" cy="182880"/>
          </a:xfrm>
          <a:prstGeom prst="rect">
            <a:avLst/>
          </a:prstGeom>
          <a:noFill/>
          <a:ln/>
        </p:spPr>
        <p:txBody>
          <a:bodyPr wrap="square" lIns="0" tIns="0" rIns="0" bIns="0" rtlCol="0" anchor="ctr">
            <a:normAutofit/>
          </a:bodyPr>
          <a:lstStyle/>
          <a:p>
            <a:pPr marL="0" indent="0" algn="l">
              <a:buNone/>
            </a:pPr>
            <a:r>
              <a:rPr lang="en-US" sz="1000" dirty="0">
                <a:solidFill>
                  <a:srgbClr val="8EA0B8"/>
                </a:solidFill>
                <a:latin typeface="Calibri" pitchFamily="34" charset="0"/>
                <a:ea typeface="Calibri" pitchFamily="34" charset="-122"/>
                <a:cs typeface="Calibri" pitchFamily="34" charset="-120"/>
              </a:rPr>
              <a:t>Conversations + messages</a:t>
            </a:r>
            <a:endParaRPr lang="en-US" sz="1000" dirty="0"/>
          </a:p>
        </p:txBody>
      </p:sp>
      <p:sp>
        <p:nvSpPr>
          <p:cNvPr id="39" name="Shape 37"/>
          <p:cNvSpPr/>
          <p:nvPr/>
        </p:nvSpPr>
        <p:spPr>
          <a:xfrm>
            <a:off x="8686800" y="2999232"/>
            <a:ext cx="502920" cy="0"/>
          </a:xfrm>
          <a:prstGeom prst="line">
            <a:avLst/>
          </a:prstGeom>
          <a:noFill/>
          <a:ln w="19050">
            <a:solidFill>
              <a:srgbClr val="8B7EFF"/>
            </a:solidFill>
            <a:prstDash val="solid"/>
            <a:tailEnd type="triangle"/>
          </a:ln>
        </p:spPr>
      </p:sp>
      <p:sp>
        <p:nvSpPr>
          <p:cNvPr id="40" name="Shape 38"/>
          <p:cNvSpPr/>
          <p:nvPr/>
        </p:nvSpPr>
        <p:spPr>
          <a:xfrm>
            <a:off x="8686800" y="3511296"/>
            <a:ext cx="502920" cy="832104"/>
          </a:xfrm>
          <a:prstGeom prst="line">
            <a:avLst/>
          </a:prstGeom>
          <a:noFill/>
          <a:ln w="19050">
            <a:solidFill>
              <a:srgbClr val="0F766E"/>
            </a:solidFill>
            <a:prstDash val="solid"/>
            <a:tailEnd type="triangle"/>
          </a:ln>
        </p:spPr>
      </p:sp>
      <p:sp>
        <p:nvSpPr>
          <p:cNvPr id="41" name="Shape 39"/>
          <p:cNvSpPr/>
          <p:nvPr/>
        </p:nvSpPr>
        <p:spPr>
          <a:xfrm>
            <a:off x="2606040" y="5166360"/>
            <a:ext cx="6080760" cy="530352"/>
          </a:xfrm>
          <a:prstGeom prst="roundRect">
            <a:avLst>
              <a:gd name="adj" fmla="val 24138"/>
            </a:avLst>
          </a:prstGeom>
          <a:solidFill>
            <a:srgbClr val="151C2D"/>
          </a:solidFill>
          <a:ln w="12700">
            <a:solidFill>
              <a:srgbClr val="151C2D">
                <a:alpha val="0"/>
              </a:srgbClr>
            </a:solidFill>
            <a:prstDash val="solid"/>
          </a:ln>
        </p:spPr>
      </p:sp>
      <p:sp>
        <p:nvSpPr>
          <p:cNvPr id="42" name="Text 40"/>
          <p:cNvSpPr txBox="1"/>
          <p:nvPr/>
        </p:nvSpPr>
        <p:spPr>
          <a:xfrm>
            <a:off x="2816352" y="5330952"/>
            <a:ext cx="5650992" cy="182880"/>
          </a:xfrm>
          <a:prstGeom prst="rect">
            <a:avLst/>
          </a:prstGeom>
          <a:noFill/>
          <a:ln/>
        </p:spPr>
        <p:txBody>
          <a:bodyPr wrap="square" lIns="0" tIns="0" rIns="0" bIns="0" rtlCol="0" anchor="ctr">
            <a:normAutofit/>
          </a:bodyPr>
          <a:lstStyle/>
          <a:p>
            <a:pPr marL="0" indent="0" algn="ctr">
              <a:buNone/>
            </a:pPr>
            <a:r>
              <a:rPr lang="en-US" sz="1020" dirty="0">
                <a:solidFill>
                  <a:srgbClr val="2DD4BF"/>
                </a:solidFill>
                <a:latin typeface="Courier New" pitchFamily="34" charset="0"/>
                <a:ea typeface="Courier New" pitchFamily="34" charset="-122"/>
                <a:cs typeface="Courier New" pitchFamily="34" charset="-120"/>
              </a:rPr>
              <a:t>Streaming chunks  -&gt;  StateFlow update  -&gt;  Markdown response on screen</a:t>
            </a:r>
            <a:endParaRPr lang="en-US" sz="1020" dirty="0"/>
          </a:p>
        </p:txBody>
      </p:sp>
      <p:sp>
        <p:nvSpPr>
          <p:cNvPr id="43" name="Shape 41"/>
          <p:cNvSpPr/>
          <p:nvPr/>
        </p:nvSpPr>
        <p:spPr>
          <a:xfrm>
            <a:off x="9189720" y="5303520"/>
            <a:ext cx="0" cy="164592"/>
          </a:xfrm>
          <a:prstGeom prst="line">
            <a:avLst/>
          </a:prstGeom>
          <a:noFill/>
          <a:ln w="17780">
            <a:solidFill>
              <a:srgbClr val="2DD4BF"/>
            </a:solidFill>
            <a:prstDash val="solid"/>
            <a:tailEnd type="triangle"/>
          </a:ln>
        </p:spPr>
      </p:sp>
      <p:sp>
        <p:nvSpPr>
          <p:cNvPr id="44" name="Text 42"/>
          <p:cNvSpPr txBox="1"/>
          <p:nvPr/>
        </p:nvSpPr>
        <p:spPr>
          <a:xfrm>
            <a:off x="713232" y="5989320"/>
            <a:ext cx="9875520" cy="182880"/>
          </a:xfrm>
          <a:prstGeom prst="rect">
            <a:avLst/>
          </a:prstGeom>
          <a:noFill/>
          <a:ln/>
        </p:spPr>
        <p:txBody>
          <a:bodyPr wrap="square" lIns="0" tIns="0" rIns="0" bIns="0" rtlCol="0" anchor="ctr">
            <a:normAutofit/>
          </a:bodyPr>
          <a:lstStyle/>
          <a:p>
            <a:pPr marL="0" indent="0" algn="l">
              <a:buNone/>
            </a:pPr>
            <a:r>
              <a:rPr lang="en-US" sz="1050" kern="0" spc="15" dirty="0">
                <a:solidFill>
                  <a:srgbClr val="56657D"/>
                </a:solidFill>
                <a:latin typeface="Calibri" pitchFamily="34" charset="0"/>
                <a:ea typeface="Calibri" pitchFamily="34" charset="-122"/>
                <a:cs typeface="Calibri" pitchFamily="34" charset="-120"/>
              </a:rPr>
              <a:t>Built with Kotlin  |  Jetpack Compose  |  Coroutines / Flow  |  OkHttp  |  Room</a:t>
            </a:r>
            <a:endParaRPr lang="en-US" sz="1050" dirty="0"/>
          </a:p>
        </p:txBody>
      </p:sp>
      <p:sp>
        <p:nvSpPr>
          <p:cNvPr id="45" name="Text 43"/>
          <p:cNvSpPr txBox="1"/>
          <p:nvPr/>
        </p:nvSpPr>
        <p:spPr>
          <a:xfrm>
            <a:off x="11228832" y="6473952"/>
            <a:ext cx="365760" cy="164592"/>
          </a:xfrm>
          <a:prstGeom prst="rect">
            <a:avLst/>
          </a:prstGeom>
          <a:noFill/>
          <a:ln/>
        </p:spPr>
        <p:txBody>
          <a:bodyPr wrap="square" lIns="0" tIns="0" rIns="0" bIns="0" rtlCol="0" anchor="ctr">
            <a:normAutofit/>
          </a:bodyPr>
          <a:lstStyle/>
          <a:p>
            <a:pPr marL="0" indent="0" algn="r">
              <a:buNone/>
            </a:pPr>
            <a:r>
              <a:rPr lang="en-US" sz="900" b="1" dirty="0">
                <a:solidFill>
                  <a:srgbClr val="56657D"/>
                </a:solidFill>
                <a:latin typeface="Calibri" pitchFamily="34" charset="0"/>
                <a:ea typeface="Calibri" pitchFamily="34" charset="-122"/>
                <a:cs typeface="Calibri" pitchFamily="34" charset="-120"/>
              </a:rPr>
              <a:t>04</a:t>
            </a:r>
            <a:endParaRPr lang="en-US" sz="900" dirty="0"/>
          </a:p>
        </p:txBody>
      </p:sp>
      <p:sp>
        <p:nvSpPr>
          <p:cNvPr id="46" name="Text 44"/>
          <p:cNvSpPr txBox="1"/>
          <p:nvPr/>
        </p:nvSpPr>
        <p:spPr>
          <a:xfrm>
            <a:off x="566928" y="6473952"/>
            <a:ext cx="2011680" cy="164592"/>
          </a:xfrm>
          <a:prstGeom prst="rect">
            <a:avLst/>
          </a:prstGeom>
          <a:noFill/>
          <a:ln/>
        </p:spPr>
        <p:txBody>
          <a:bodyPr wrap="square" lIns="0" tIns="0" rIns="0" bIns="0" rtlCol="0" anchor="ctr">
            <a:normAutofit/>
          </a:bodyPr>
          <a:lstStyle/>
          <a:p>
            <a:pPr marL="0" indent="0" algn="l">
              <a:buNone/>
            </a:pPr>
            <a:r>
              <a:rPr lang="en-US" sz="800" b="1" kern="0" spc="110" dirty="0">
                <a:solidFill>
                  <a:srgbClr val="56657D"/>
                </a:solidFill>
                <a:latin typeface="Calibri" pitchFamily="34" charset="0"/>
                <a:ea typeface="Calibri" pitchFamily="34" charset="-122"/>
                <a:cs typeface="Calibri" pitchFamily="34" charset="-120"/>
              </a:rPr>
              <a:t>ARCHITECTURE</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522"/>
        </a:solidFill>
        <a:effectLst/>
      </p:bgPr>
    </p:bg>
    <p:spTree>
      <p:nvGrpSpPr>
        <p:cNvPr id="1" name=""/>
        <p:cNvGrpSpPr/>
        <p:nvPr/>
      </p:nvGrpSpPr>
      <p:grpSpPr>
        <a:xfrm>
          <a:off x="0" y="0"/>
          <a:ext cx="0" cy="0"/>
          <a:chOff x="0" y="0"/>
          <a:chExt cx="0" cy="0"/>
        </a:xfrm>
      </p:grpSpPr>
      <p:sp>
        <p:nvSpPr>
          <p:cNvPr id="2" name="Shape 0"/>
          <p:cNvSpPr/>
          <p:nvPr/>
        </p:nvSpPr>
        <p:spPr>
          <a:xfrm>
            <a:off x="10241280" y="-822960"/>
            <a:ext cx="3474720" cy="3474720"/>
          </a:xfrm>
          <a:prstGeom prst="ellipse">
            <a:avLst/>
          </a:prstGeom>
          <a:solidFill>
            <a:srgbClr val="0F766E">
              <a:alpha val="10000"/>
            </a:srgbClr>
          </a:solidFill>
          <a:ln w="12700">
            <a:solidFill>
              <a:srgbClr val="0F766E">
                <a:alpha val="0"/>
              </a:srgbClr>
            </a:solidFill>
            <a:prstDash val="solid"/>
          </a:ln>
        </p:spPr>
      </p:sp>
      <p:sp>
        <p:nvSpPr>
          <p:cNvPr id="3" name="Shape 1"/>
          <p:cNvSpPr/>
          <p:nvPr/>
        </p:nvSpPr>
        <p:spPr>
          <a:xfrm>
            <a:off x="566928" y="438912"/>
            <a:ext cx="1325880" cy="256032"/>
          </a:xfrm>
          <a:prstGeom prst="roundRect">
            <a:avLst>
              <a:gd name="adj" fmla="val 42857"/>
            </a:avLst>
          </a:prstGeom>
          <a:solidFill>
            <a:srgbClr val="202B42"/>
          </a:solidFill>
          <a:ln w="12700">
            <a:solidFill>
              <a:srgbClr val="202B42">
                <a:alpha val="0"/>
              </a:srgbClr>
            </a:solidFill>
            <a:prstDash val="solid"/>
          </a:ln>
        </p:spPr>
      </p:sp>
      <p:sp>
        <p:nvSpPr>
          <p:cNvPr id="4" name="Text 2"/>
          <p:cNvSpPr txBox="1"/>
          <p:nvPr/>
        </p:nvSpPr>
        <p:spPr>
          <a:xfrm>
            <a:off x="566928" y="448056"/>
            <a:ext cx="132588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2DD4BF"/>
                </a:solidFill>
                <a:latin typeface="Calibri" pitchFamily="34" charset="0"/>
                <a:ea typeface="Calibri" pitchFamily="34" charset="-122"/>
                <a:cs typeface="Calibri" pitchFamily="34" charset="-120"/>
              </a:rPr>
              <a:t>04 / DEMO</a:t>
            </a:r>
            <a:endParaRPr lang="en-US" sz="850" dirty="0"/>
          </a:p>
        </p:txBody>
      </p:sp>
      <p:sp>
        <p:nvSpPr>
          <p:cNvPr id="5" name="Text 3"/>
          <p:cNvSpPr txBox="1"/>
          <p:nvPr/>
        </p:nvSpPr>
        <p:spPr>
          <a:xfrm>
            <a:off x="566928" y="841248"/>
            <a:ext cx="7955280" cy="512064"/>
          </a:xfrm>
          <a:prstGeom prst="rect">
            <a:avLst/>
          </a:prstGeom>
          <a:noFill/>
          <a:ln/>
        </p:spPr>
        <p:txBody>
          <a:bodyPr wrap="square" lIns="0" tIns="0" rIns="0" bIns="0" rtlCol="0" anchor="ctr">
            <a:normAutofit/>
          </a:bodyPr>
          <a:lstStyle/>
          <a:p>
            <a:pPr marL="0" indent="0" algn="l">
              <a:buNone/>
            </a:pPr>
            <a:r>
              <a:rPr lang="en-US" sz="2900" b="1" dirty="0">
                <a:solidFill>
                  <a:srgbClr val="F8FAFC"/>
                </a:solidFill>
                <a:latin typeface="Cambria" pitchFamily="34" charset="0"/>
                <a:ea typeface="Cambria" pitchFamily="34" charset="-122"/>
                <a:cs typeface="Cambria" pitchFamily="34" charset="-120"/>
              </a:rPr>
              <a:t>Show the idea in under two minutes.</a:t>
            </a:r>
            <a:endParaRPr lang="en-US" sz="2900" dirty="0"/>
          </a:p>
        </p:txBody>
      </p:sp>
      <p:sp>
        <p:nvSpPr>
          <p:cNvPr id="6" name="Text 4"/>
          <p:cNvSpPr txBox="1"/>
          <p:nvPr/>
        </p:nvSpPr>
        <p:spPr>
          <a:xfrm>
            <a:off x="585216" y="1426464"/>
            <a:ext cx="8412480" cy="292608"/>
          </a:xfrm>
          <a:prstGeom prst="rect">
            <a:avLst/>
          </a:prstGeom>
          <a:noFill/>
          <a:ln/>
        </p:spPr>
        <p:txBody>
          <a:bodyPr wrap="square" lIns="0" tIns="0" rIns="0" bIns="0" rtlCol="0" anchor="ctr">
            <a:normAutofit/>
          </a:bodyPr>
          <a:lstStyle/>
          <a:p>
            <a:pPr marL="0" indent="0" algn="l">
              <a:buNone/>
            </a:pPr>
            <a:r>
              <a:rPr lang="en-US" sz="1350" dirty="0">
                <a:solidFill>
                  <a:srgbClr val="8EA0B8"/>
                </a:solidFill>
                <a:latin typeface="Calibri" pitchFamily="34" charset="0"/>
                <a:ea typeface="Calibri" pitchFamily="34" charset="-122"/>
                <a:cs typeface="Calibri" pitchFamily="34" charset="-120"/>
              </a:rPr>
              <a:t>A short scenario demonstrates the complete value loop: ask, receive, continue, and return.</a:t>
            </a:r>
            <a:endParaRPr lang="en-US" sz="1350" dirty="0"/>
          </a:p>
        </p:txBody>
      </p:sp>
      <p:sp>
        <p:nvSpPr>
          <p:cNvPr id="7" name="Shape 5"/>
          <p:cNvSpPr/>
          <p:nvPr/>
        </p:nvSpPr>
        <p:spPr>
          <a:xfrm>
            <a:off x="594360" y="2084832"/>
            <a:ext cx="6812280" cy="3611880"/>
          </a:xfrm>
          <a:prstGeom prst="roundRect">
            <a:avLst>
              <a:gd name="adj" fmla="val 4557"/>
            </a:avLst>
          </a:prstGeom>
          <a:solidFill>
            <a:srgbClr val="1B2437"/>
          </a:solidFill>
          <a:ln w="12700">
            <a:solidFill>
              <a:srgbClr val="1B2437">
                <a:alpha val="0"/>
              </a:srgbClr>
            </a:solidFill>
            <a:prstDash val="solid"/>
          </a:ln>
        </p:spPr>
      </p:sp>
      <p:sp>
        <p:nvSpPr>
          <p:cNvPr id="8" name="Shape 6"/>
          <p:cNvSpPr/>
          <p:nvPr/>
        </p:nvSpPr>
        <p:spPr>
          <a:xfrm>
            <a:off x="868680" y="2359152"/>
            <a:ext cx="1234440" cy="256032"/>
          </a:xfrm>
          <a:prstGeom prst="roundRect">
            <a:avLst>
              <a:gd name="adj" fmla="val 42857"/>
            </a:avLst>
          </a:prstGeom>
          <a:solidFill>
            <a:srgbClr val="6D5DFB"/>
          </a:solidFill>
          <a:ln w="12700">
            <a:solidFill>
              <a:srgbClr val="6D5DFB">
                <a:alpha val="0"/>
              </a:srgbClr>
            </a:solidFill>
            <a:prstDash val="solid"/>
          </a:ln>
        </p:spPr>
      </p:sp>
      <p:sp>
        <p:nvSpPr>
          <p:cNvPr id="9" name="Text 7"/>
          <p:cNvSpPr txBox="1"/>
          <p:nvPr/>
        </p:nvSpPr>
        <p:spPr>
          <a:xfrm>
            <a:off x="868680" y="2368296"/>
            <a:ext cx="1234440"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8FAFC"/>
                </a:solidFill>
                <a:latin typeface="Calibri" pitchFamily="34" charset="0"/>
                <a:ea typeface="Calibri" pitchFamily="34" charset="-122"/>
                <a:cs typeface="Calibri" pitchFamily="34" charset="-120"/>
              </a:rPr>
              <a:t>LIVE SEQUENCE</a:t>
            </a:r>
            <a:endParaRPr lang="en-US" sz="850" dirty="0"/>
          </a:p>
        </p:txBody>
      </p:sp>
      <p:sp>
        <p:nvSpPr>
          <p:cNvPr id="10" name="Shape 8"/>
          <p:cNvSpPr/>
          <p:nvPr/>
        </p:nvSpPr>
        <p:spPr>
          <a:xfrm>
            <a:off x="896112" y="2852928"/>
            <a:ext cx="310896" cy="310896"/>
          </a:xfrm>
          <a:prstGeom prst="ellipse">
            <a:avLst/>
          </a:prstGeom>
          <a:solidFill>
            <a:srgbClr val="6D5DFB"/>
          </a:solidFill>
          <a:ln w="12700">
            <a:solidFill>
              <a:srgbClr val="6D5DFB">
                <a:alpha val="0"/>
              </a:srgbClr>
            </a:solidFill>
            <a:prstDash val="solid"/>
          </a:ln>
        </p:spPr>
      </p:sp>
      <p:sp>
        <p:nvSpPr>
          <p:cNvPr id="11" name="Text 9"/>
          <p:cNvSpPr txBox="1"/>
          <p:nvPr/>
        </p:nvSpPr>
        <p:spPr>
          <a:xfrm>
            <a:off x="896112" y="2916936"/>
            <a:ext cx="310896" cy="146304"/>
          </a:xfrm>
          <a:prstGeom prst="rect">
            <a:avLst/>
          </a:prstGeom>
          <a:noFill/>
          <a:ln/>
        </p:spPr>
        <p:txBody>
          <a:bodyPr wrap="square" lIns="0" tIns="0" rIns="0" bIns="0" rtlCol="0" anchor="ctr">
            <a:normAutofit/>
          </a:bodyPr>
          <a:lstStyle/>
          <a:p>
            <a:pPr marL="0" indent="0" algn="ctr">
              <a:buNone/>
            </a:pPr>
            <a:r>
              <a:rPr lang="en-US" sz="750" b="1" dirty="0">
                <a:solidFill>
                  <a:srgbClr val="F8FAFC"/>
                </a:solidFill>
                <a:latin typeface="Courier New" pitchFamily="34" charset="0"/>
                <a:ea typeface="Courier New" pitchFamily="34" charset="-122"/>
                <a:cs typeface="Courier New" pitchFamily="34" charset="-120"/>
              </a:rPr>
              <a:t>01</a:t>
            </a:r>
            <a:endParaRPr lang="en-US" sz="750" dirty="0"/>
          </a:p>
        </p:txBody>
      </p:sp>
      <p:sp>
        <p:nvSpPr>
          <p:cNvPr id="12" name="Text 10"/>
          <p:cNvSpPr txBox="1"/>
          <p:nvPr/>
        </p:nvSpPr>
        <p:spPr>
          <a:xfrm>
            <a:off x="1389888" y="2834640"/>
            <a:ext cx="960120" cy="201168"/>
          </a:xfrm>
          <a:prstGeom prst="rect">
            <a:avLst/>
          </a:prstGeom>
          <a:noFill/>
          <a:ln/>
        </p:spPr>
        <p:txBody>
          <a:bodyPr wrap="square" lIns="0" tIns="0" rIns="0" bIns="0" rtlCol="0" anchor="ctr">
            <a:normAutofit/>
          </a:bodyPr>
          <a:lstStyle/>
          <a:p>
            <a:pPr marL="0" indent="0" algn="l">
              <a:buNone/>
            </a:pPr>
            <a:r>
              <a:rPr lang="en-US" sz="1350" b="1" dirty="0">
                <a:solidFill>
                  <a:srgbClr val="F8FAFC"/>
                </a:solidFill>
                <a:latin typeface="Calibri" pitchFamily="34" charset="0"/>
                <a:ea typeface="Calibri" pitchFamily="34" charset="-122"/>
                <a:cs typeface="Calibri" pitchFamily="34" charset="-120"/>
              </a:rPr>
              <a:t>Ask</a:t>
            </a:r>
            <a:endParaRPr lang="en-US" sz="1350" dirty="0"/>
          </a:p>
        </p:txBody>
      </p:sp>
      <p:sp>
        <p:nvSpPr>
          <p:cNvPr id="13" name="Text 11"/>
          <p:cNvSpPr txBox="1"/>
          <p:nvPr/>
        </p:nvSpPr>
        <p:spPr>
          <a:xfrm>
            <a:off x="2395728" y="2834640"/>
            <a:ext cx="4526280" cy="228600"/>
          </a:xfrm>
          <a:prstGeom prst="rect">
            <a:avLst/>
          </a:prstGeom>
          <a:noFill/>
          <a:ln/>
        </p:spPr>
        <p:txBody>
          <a:bodyPr wrap="square" lIns="0" tIns="0" rIns="0" bIns="0" rtlCol="0" anchor="ctr">
            <a:normAutofit/>
          </a:bodyPr>
          <a:lstStyle/>
          <a:p>
            <a:pPr marL="0" indent="0" algn="l">
              <a:buNone/>
            </a:pPr>
            <a:r>
              <a:rPr lang="en-US" sz="1150" dirty="0">
                <a:solidFill>
                  <a:srgbClr val="8EA0B8"/>
                </a:solidFill>
                <a:latin typeface="Calibri" pitchFamily="34" charset="0"/>
                <a:ea typeface="Calibri" pitchFamily="34" charset="-122"/>
                <a:cs typeface="Calibri" pitchFamily="34" charset="-120"/>
              </a:rPr>
              <a:t>Select: "Write binary search in Java."</a:t>
            </a:r>
            <a:endParaRPr lang="en-US" sz="1150" dirty="0"/>
          </a:p>
        </p:txBody>
      </p:sp>
      <p:sp>
        <p:nvSpPr>
          <p:cNvPr id="14" name="Shape 12"/>
          <p:cNvSpPr/>
          <p:nvPr/>
        </p:nvSpPr>
        <p:spPr>
          <a:xfrm>
            <a:off x="1051560" y="3182112"/>
            <a:ext cx="0" cy="256032"/>
          </a:xfrm>
          <a:prstGeom prst="line">
            <a:avLst/>
          </a:prstGeom>
          <a:noFill/>
          <a:ln w="15240">
            <a:solidFill>
              <a:srgbClr val="56657D"/>
            </a:solidFill>
            <a:prstDash val="solid"/>
            <a:tailEnd type="none"/>
          </a:ln>
        </p:spPr>
      </p:sp>
      <p:sp>
        <p:nvSpPr>
          <p:cNvPr id="15" name="Shape 13"/>
          <p:cNvSpPr/>
          <p:nvPr/>
        </p:nvSpPr>
        <p:spPr>
          <a:xfrm>
            <a:off x="896112" y="3474720"/>
            <a:ext cx="310896" cy="310896"/>
          </a:xfrm>
          <a:prstGeom prst="ellipse">
            <a:avLst/>
          </a:prstGeom>
          <a:solidFill>
            <a:srgbClr val="0F766E"/>
          </a:solidFill>
          <a:ln w="12700">
            <a:solidFill>
              <a:srgbClr val="0F766E">
                <a:alpha val="0"/>
              </a:srgbClr>
            </a:solidFill>
            <a:prstDash val="solid"/>
          </a:ln>
        </p:spPr>
      </p:sp>
      <p:sp>
        <p:nvSpPr>
          <p:cNvPr id="16" name="Text 14"/>
          <p:cNvSpPr txBox="1"/>
          <p:nvPr/>
        </p:nvSpPr>
        <p:spPr>
          <a:xfrm>
            <a:off x="896112" y="3538728"/>
            <a:ext cx="310896" cy="146304"/>
          </a:xfrm>
          <a:prstGeom prst="rect">
            <a:avLst/>
          </a:prstGeom>
          <a:noFill/>
          <a:ln/>
        </p:spPr>
        <p:txBody>
          <a:bodyPr wrap="square" lIns="0" tIns="0" rIns="0" bIns="0" rtlCol="0" anchor="ctr">
            <a:normAutofit/>
          </a:bodyPr>
          <a:lstStyle/>
          <a:p>
            <a:pPr marL="0" indent="0" algn="ctr">
              <a:buNone/>
            </a:pPr>
            <a:r>
              <a:rPr lang="en-US" sz="750" b="1" dirty="0">
                <a:solidFill>
                  <a:srgbClr val="F8FAFC"/>
                </a:solidFill>
                <a:latin typeface="Courier New" pitchFamily="34" charset="0"/>
                <a:ea typeface="Courier New" pitchFamily="34" charset="-122"/>
                <a:cs typeface="Courier New" pitchFamily="34" charset="-120"/>
              </a:rPr>
              <a:t>02</a:t>
            </a:r>
            <a:endParaRPr lang="en-US" sz="750" dirty="0"/>
          </a:p>
        </p:txBody>
      </p:sp>
      <p:sp>
        <p:nvSpPr>
          <p:cNvPr id="17" name="Text 15"/>
          <p:cNvSpPr txBox="1"/>
          <p:nvPr/>
        </p:nvSpPr>
        <p:spPr>
          <a:xfrm>
            <a:off x="1389888" y="3456432"/>
            <a:ext cx="960120" cy="201168"/>
          </a:xfrm>
          <a:prstGeom prst="rect">
            <a:avLst/>
          </a:prstGeom>
          <a:noFill/>
          <a:ln/>
        </p:spPr>
        <p:txBody>
          <a:bodyPr wrap="square" lIns="0" tIns="0" rIns="0" bIns="0" rtlCol="0" anchor="ctr">
            <a:normAutofit/>
          </a:bodyPr>
          <a:lstStyle/>
          <a:p>
            <a:pPr marL="0" indent="0" algn="l">
              <a:buNone/>
            </a:pPr>
            <a:r>
              <a:rPr lang="en-US" sz="1350" b="1" dirty="0">
                <a:solidFill>
                  <a:srgbClr val="F8FAFC"/>
                </a:solidFill>
                <a:latin typeface="Calibri" pitchFamily="34" charset="0"/>
                <a:ea typeface="Calibri" pitchFamily="34" charset="-122"/>
                <a:cs typeface="Calibri" pitchFamily="34" charset="-120"/>
              </a:rPr>
              <a:t>Watch</a:t>
            </a:r>
            <a:endParaRPr lang="en-US" sz="1350" dirty="0"/>
          </a:p>
        </p:txBody>
      </p:sp>
      <p:sp>
        <p:nvSpPr>
          <p:cNvPr id="18" name="Text 16"/>
          <p:cNvSpPr txBox="1"/>
          <p:nvPr/>
        </p:nvSpPr>
        <p:spPr>
          <a:xfrm>
            <a:off x="2395728" y="3456432"/>
            <a:ext cx="4526280" cy="228600"/>
          </a:xfrm>
          <a:prstGeom prst="rect">
            <a:avLst/>
          </a:prstGeom>
          <a:noFill/>
          <a:ln/>
        </p:spPr>
        <p:txBody>
          <a:bodyPr wrap="square" lIns="0" tIns="0" rIns="0" bIns="0" rtlCol="0" anchor="ctr">
            <a:normAutofit/>
          </a:bodyPr>
          <a:lstStyle/>
          <a:p>
            <a:pPr marL="0" indent="0" algn="l">
              <a:buNone/>
            </a:pPr>
            <a:r>
              <a:rPr lang="en-US" sz="1150" dirty="0">
                <a:solidFill>
                  <a:srgbClr val="8EA0B8"/>
                </a:solidFill>
                <a:latin typeface="Calibri" pitchFamily="34" charset="0"/>
                <a:ea typeface="Calibri" pitchFamily="34" charset="-122"/>
                <a:cs typeface="Calibri" pitchFamily="34" charset="-120"/>
              </a:rPr>
              <a:t>Show the response streaming into a formatted code block.</a:t>
            </a:r>
            <a:endParaRPr lang="en-US" sz="1150" dirty="0"/>
          </a:p>
        </p:txBody>
      </p:sp>
      <p:sp>
        <p:nvSpPr>
          <p:cNvPr id="19" name="Shape 17"/>
          <p:cNvSpPr/>
          <p:nvPr/>
        </p:nvSpPr>
        <p:spPr>
          <a:xfrm>
            <a:off x="1051560" y="3803904"/>
            <a:ext cx="0" cy="256032"/>
          </a:xfrm>
          <a:prstGeom prst="line">
            <a:avLst/>
          </a:prstGeom>
          <a:noFill/>
          <a:ln w="15240">
            <a:solidFill>
              <a:srgbClr val="56657D"/>
            </a:solidFill>
            <a:prstDash val="solid"/>
            <a:tailEnd type="none"/>
          </a:ln>
        </p:spPr>
      </p:sp>
      <p:sp>
        <p:nvSpPr>
          <p:cNvPr id="20" name="Shape 18"/>
          <p:cNvSpPr/>
          <p:nvPr/>
        </p:nvSpPr>
        <p:spPr>
          <a:xfrm>
            <a:off x="896112" y="4096512"/>
            <a:ext cx="310896" cy="310896"/>
          </a:xfrm>
          <a:prstGeom prst="ellipse">
            <a:avLst/>
          </a:prstGeom>
          <a:solidFill>
            <a:srgbClr val="6D5DFB"/>
          </a:solidFill>
          <a:ln w="12700">
            <a:solidFill>
              <a:srgbClr val="6D5DFB">
                <a:alpha val="0"/>
              </a:srgbClr>
            </a:solidFill>
            <a:prstDash val="solid"/>
          </a:ln>
        </p:spPr>
      </p:sp>
      <p:sp>
        <p:nvSpPr>
          <p:cNvPr id="21" name="Text 19"/>
          <p:cNvSpPr txBox="1"/>
          <p:nvPr/>
        </p:nvSpPr>
        <p:spPr>
          <a:xfrm>
            <a:off x="896112" y="4160520"/>
            <a:ext cx="310896" cy="146304"/>
          </a:xfrm>
          <a:prstGeom prst="rect">
            <a:avLst/>
          </a:prstGeom>
          <a:noFill/>
          <a:ln/>
        </p:spPr>
        <p:txBody>
          <a:bodyPr wrap="square" lIns="0" tIns="0" rIns="0" bIns="0" rtlCol="0" anchor="ctr">
            <a:normAutofit/>
          </a:bodyPr>
          <a:lstStyle/>
          <a:p>
            <a:pPr marL="0" indent="0" algn="ctr">
              <a:buNone/>
            </a:pPr>
            <a:r>
              <a:rPr lang="en-US" sz="750" b="1" dirty="0">
                <a:solidFill>
                  <a:srgbClr val="F8FAFC"/>
                </a:solidFill>
                <a:latin typeface="Courier New" pitchFamily="34" charset="0"/>
                <a:ea typeface="Courier New" pitchFamily="34" charset="-122"/>
                <a:cs typeface="Courier New" pitchFamily="34" charset="-120"/>
              </a:rPr>
              <a:t>03</a:t>
            </a:r>
            <a:endParaRPr lang="en-US" sz="750" dirty="0"/>
          </a:p>
        </p:txBody>
      </p:sp>
      <p:sp>
        <p:nvSpPr>
          <p:cNvPr id="22" name="Text 20"/>
          <p:cNvSpPr txBox="1"/>
          <p:nvPr/>
        </p:nvSpPr>
        <p:spPr>
          <a:xfrm>
            <a:off x="1389888" y="4078224"/>
            <a:ext cx="960120" cy="201168"/>
          </a:xfrm>
          <a:prstGeom prst="rect">
            <a:avLst/>
          </a:prstGeom>
          <a:noFill/>
          <a:ln/>
        </p:spPr>
        <p:txBody>
          <a:bodyPr wrap="square" lIns="0" tIns="0" rIns="0" bIns="0" rtlCol="0" anchor="ctr">
            <a:normAutofit/>
          </a:bodyPr>
          <a:lstStyle/>
          <a:p>
            <a:pPr marL="0" indent="0" algn="l">
              <a:buNone/>
            </a:pPr>
            <a:r>
              <a:rPr lang="en-US" sz="1350" b="1" dirty="0">
                <a:solidFill>
                  <a:srgbClr val="F8FAFC"/>
                </a:solidFill>
                <a:latin typeface="Calibri" pitchFamily="34" charset="0"/>
                <a:ea typeface="Calibri" pitchFamily="34" charset="-122"/>
                <a:cs typeface="Calibri" pitchFamily="34" charset="-120"/>
              </a:rPr>
              <a:t>Continue</a:t>
            </a:r>
            <a:endParaRPr lang="en-US" sz="1350" dirty="0"/>
          </a:p>
        </p:txBody>
      </p:sp>
      <p:sp>
        <p:nvSpPr>
          <p:cNvPr id="23" name="Text 21"/>
          <p:cNvSpPr txBox="1"/>
          <p:nvPr/>
        </p:nvSpPr>
        <p:spPr>
          <a:xfrm>
            <a:off x="2395728" y="4078224"/>
            <a:ext cx="4526280" cy="228600"/>
          </a:xfrm>
          <a:prstGeom prst="rect">
            <a:avLst/>
          </a:prstGeom>
          <a:noFill/>
          <a:ln/>
        </p:spPr>
        <p:txBody>
          <a:bodyPr wrap="square" lIns="0" tIns="0" rIns="0" bIns="0" rtlCol="0" anchor="ctr">
            <a:normAutofit/>
          </a:bodyPr>
          <a:lstStyle/>
          <a:p>
            <a:pPr marL="0" indent="0" algn="l">
              <a:buNone/>
            </a:pPr>
            <a:r>
              <a:rPr lang="en-US" sz="1150" dirty="0">
                <a:solidFill>
                  <a:srgbClr val="8EA0B8"/>
                </a:solidFill>
                <a:latin typeface="Calibri" pitchFamily="34" charset="0"/>
                <a:ea typeface="Calibri" pitchFamily="34" charset="-122"/>
                <a:cs typeface="Calibri" pitchFamily="34" charset="-120"/>
              </a:rPr>
              <a:t>Ask: "Explain its time complexity."</a:t>
            </a:r>
            <a:endParaRPr lang="en-US" sz="1150" dirty="0"/>
          </a:p>
        </p:txBody>
      </p:sp>
      <p:sp>
        <p:nvSpPr>
          <p:cNvPr id="24" name="Shape 22"/>
          <p:cNvSpPr/>
          <p:nvPr/>
        </p:nvSpPr>
        <p:spPr>
          <a:xfrm>
            <a:off x="1051560" y="4425696"/>
            <a:ext cx="0" cy="256032"/>
          </a:xfrm>
          <a:prstGeom prst="line">
            <a:avLst/>
          </a:prstGeom>
          <a:noFill/>
          <a:ln w="15240">
            <a:solidFill>
              <a:srgbClr val="56657D"/>
            </a:solidFill>
            <a:prstDash val="solid"/>
            <a:tailEnd type="none"/>
          </a:ln>
        </p:spPr>
      </p:sp>
      <p:sp>
        <p:nvSpPr>
          <p:cNvPr id="25" name="Shape 23"/>
          <p:cNvSpPr/>
          <p:nvPr/>
        </p:nvSpPr>
        <p:spPr>
          <a:xfrm>
            <a:off x="896112" y="4718304"/>
            <a:ext cx="310896" cy="310896"/>
          </a:xfrm>
          <a:prstGeom prst="ellipse">
            <a:avLst/>
          </a:prstGeom>
          <a:solidFill>
            <a:srgbClr val="6D5DFB"/>
          </a:solidFill>
          <a:ln w="12700">
            <a:solidFill>
              <a:srgbClr val="6D5DFB">
                <a:alpha val="0"/>
              </a:srgbClr>
            </a:solidFill>
            <a:prstDash val="solid"/>
          </a:ln>
        </p:spPr>
      </p:sp>
      <p:sp>
        <p:nvSpPr>
          <p:cNvPr id="26" name="Text 24"/>
          <p:cNvSpPr txBox="1"/>
          <p:nvPr/>
        </p:nvSpPr>
        <p:spPr>
          <a:xfrm>
            <a:off x="896112" y="4782312"/>
            <a:ext cx="310896" cy="146304"/>
          </a:xfrm>
          <a:prstGeom prst="rect">
            <a:avLst/>
          </a:prstGeom>
          <a:noFill/>
          <a:ln/>
        </p:spPr>
        <p:txBody>
          <a:bodyPr wrap="square" lIns="0" tIns="0" rIns="0" bIns="0" rtlCol="0" anchor="ctr">
            <a:normAutofit/>
          </a:bodyPr>
          <a:lstStyle/>
          <a:p>
            <a:pPr marL="0" indent="0" algn="ctr">
              <a:buNone/>
            </a:pPr>
            <a:r>
              <a:rPr lang="en-US" sz="750" b="1" dirty="0">
                <a:solidFill>
                  <a:srgbClr val="F8FAFC"/>
                </a:solidFill>
                <a:latin typeface="Courier New" pitchFamily="34" charset="0"/>
                <a:ea typeface="Courier New" pitchFamily="34" charset="-122"/>
                <a:cs typeface="Courier New" pitchFamily="34" charset="-120"/>
              </a:rPr>
              <a:t>04</a:t>
            </a:r>
            <a:endParaRPr lang="en-US" sz="750" dirty="0"/>
          </a:p>
        </p:txBody>
      </p:sp>
      <p:sp>
        <p:nvSpPr>
          <p:cNvPr id="27" name="Text 25"/>
          <p:cNvSpPr txBox="1"/>
          <p:nvPr/>
        </p:nvSpPr>
        <p:spPr>
          <a:xfrm>
            <a:off x="1389888" y="4700016"/>
            <a:ext cx="960120" cy="201168"/>
          </a:xfrm>
          <a:prstGeom prst="rect">
            <a:avLst/>
          </a:prstGeom>
          <a:noFill/>
          <a:ln/>
        </p:spPr>
        <p:txBody>
          <a:bodyPr wrap="square" lIns="0" tIns="0" rIns="0" bIns="0" rtlCol="0" anchor="ctr">
            <a:normAutofit/>
          </a:bodyPr>
          <a:lstStyle/>
          <a:p>
            <a:pPr marL="0" indent="0" algn="l">
              <a:buNone/>
            </a:pPr>
            <a:r>
              <a:rPr lang="en-US" sz="1350" b="1" dirty="0">
                <a:solidFill>
                  <a:srgbClr val="F8FAFC"/>
                </a:solidFill>
                <a:latin typeface="Calibri" pitchFamily="34" charset="0"/>
                <a:ea typeface="Calibri" pitchFamily="34" charset="-122"/>
                <a:cs typeface="Calibri" pitchFamily="34" charset="-120"/>
              </a:rPr>
              <a:t>Return</a:t>
            </a:r>
            <a:endParaRPr lang="en-US" sz="1350" dirty="0"/>
          </a:p>
        </p:txBody>
      </p:sp>
      <p:sp>
        <p:nvSpPr>
          <p:cNvPr id="28" name="Text 26"/>
          <p:cNvSpPr txBox="1"/>
          <p:nvPr/>
        </p:nvSpPr>
        <p:spPr>
          <a:xfrm>
            <a:off x="2395728" y="4700016"/>
            <a:ext cx="4526280" cy="228600"/>
          </a:xfrm>
          <a:prstGeom prst="rect">
            <a:avLst/>
          </a:prstGeom>
          <a:noFill/>
          <a:ln/>
        </p:spPr>
        <p:txBody>
          <a:bodyPr wrap="square" lIns="0" tIns="0" rIns="0" bIns="0" rtlCol="0" anchor="ctr">
            <a:normAutofit/>
          </a:bodyPr>
          <a:lstStyle/>
          <a:p>
            <a:pPr marL="0" indent="0" algn="l">
              <a:buNone/>
            </a:pPr>
            <a:r>
              <a:rPr lang="en-US" sz="1150" dirty="0">
                <a:solidFill>
                  <a:srgbClr val="8EA0B8"/>
                </a:solidFill>
                <a:latin typeface="Calibri" pitchFamily="34" charset="0"/>
                <a:ea typeface="Calibri" pitchFamily="34" charset="-122"/>
                <a:cs typeface="Calibri" pitchFamily="34" charset="-120"/>
              </a:rPr>
              <a:t>Open history, switch chats, then create a new chat.</a:t>
            </a:r>
            <a:endParaRPr lang="en-US" sz="1150" dirty="0"/>
          </a:p>
        </p:txBody>
      </p:sp>
      <p:sp>
        <p:nvSpPr>
          <p:cNvPr id="29" name="Shape 27"/>
          <p:cNvSpPr/>
          <p:nvPr/>
        </p:nvSpPr>
        <p:spPr>
          <a:xfrm>
            <a:off x="7772400" y="2084832"/>
            <a:ext cx="3794760" cy="3611880"/>
          </a:xfrm>
          <a:prstGeom prst="roundRect">
            <a:avLst>
              <a:gd name="adj" fmla="val 4557"/>
            </a:avLst>
          </a:prstGeom>
          <a:solidFill>
            <a:srgbClr val="151C2D"/>
          </a:solidFill>
          <a:ln w="12700">
            <a:solidFill>
              <a:srgbClr val="202B42"/>
            </a:solidFill>
            <a:prstDash val="solid"/>
          </a:ln>
        </p:spPr>
      </p:sp>
      <p:sp>
        <p:nvSpPr>
          <p:cNvPr id="30" name="Shape 28"/>
          <p:cNvSpPr/>
          <p:nvPr/>
        </p:nvSpPr>
        <p:spPr>
          <a:xfrm>
            <a:off x="8046720" y="2359152"/>
            <a:ext cx="1298448" cy="256032"/>
          </a:xfrm>
          <a:prstGeom prst="roundRect">
            <a:avLst>
              <a:gd name="adj" fmla="val 42857"/>
            </a:avLst>
          </a:prstGeom>
          <a:solidFill>
            <a:srgbClr val="0F766E"/>
          </a:solidFill>
          <a:ln w="12700">
            <a:solidFill>
              <a:srgbClr val="0F766E">
                <a:alpha val="0"/>
              </a:srgbClr>
            </a:solidFill>
            <a:prstDash val="solid"/>
          </a:ln>
        </p:spPr>
      </p:sp>
      <p:sp>
        <p:nvSpPr>
          <p:cNvPr id="31" name="Text 29"/>
          <p:cNvSpPr txBox="1"/>
          <p:nvPr/>
        </p:nvSpPr>
        <p:spPr>
          <a:xfrm>
            <a:off x="8046720" y="2368296"/>
            <a:ext cx="1298448" cy="228600"/>
          </a:xfrm>
          <a:prstGeom prst="rect">
            <a:avLst/>
          </a:prstGeom>
          <a:noFill/>
          <a:ln/>
        </p:spPr>
        <p:txBody>
          <a:bodyPr wrap="square" lIns="0" tIns="0" rIns="0" bIns="0" rtlCol="0" anchor="ctr">
            <a:normAutofit/>
          </a:bodyPr>
          <a:lstStyle/>
          <a:p>
            <a:pPr marL="0" indent="0" algn="ctr">
              <a:buNone/>
            </a:pPr>
            <a:r>
              <a:rPr lang="en-US" sz="850" b="1" kern="0" spc="120" dirty="0">
                <a:solidFill>
                  <a:srgbClr val="F8FAFC"/>
                </a:solidFill>
                <a:latin typeface="Calibri" pitchFamily="34" charset="0"/>
                <a:ea typeface="Calibri" pitchFamily="34" charset="-122"/>
                <a:cs typeface="Calibri" pitchFamily="34" charset="-120"/>
              </a:rPr>
              <a:t>NEXT ITERATION</a:t>
            </a:r>
            <a:endParaRPr lang="en-US" sz="850" dirty="0"/>
          </a:p>
        </p:txBody>
      </p:sp>
      <p:sp>
        <p:nvSpPr>
          <p:cNvPr id="32" name="Text 30"/>
          <p:cNvSpPr txBox="1"/>
          <p:nvPr/>
        </p:nvSpPr>
        <p:spPr>
          <a:xfrm>
            <a:off x="8046720" y="2761488"/>
            <a:ext cx="2834640" cy="576072"/>
          </a:xfrm>
          <a:prstGeom prst="rect">
            <a:avLst/>
          </a:prstGeom>
          <a:noFill/>
          <a:ln/>
        </p:spPr>
        <p:txBody>
          <a:bodyPr wrap="square" lIns="0" tIns="0" rIns="0" bIns="0" rtlCol="0" anchor="t">
            <a:normAutofit/>
          </a:bodyPr>
          <a:lstStyle/>
          <a:p>
            <a:pPr marL="0" indent="0" algn="l">
              <a:buNone/>
            </a:pPr>
            <a:r>
              <a:rPr lang="en-US" sz="2100" b="1" dirty="0">
                <a:solidFill>
                  <a:srgbClr val="F8FAFC"/>
                </a:solidFill>
                <a:latin typeface="Cambria" pitchFamily="34" charset="0"/>
                <a:ea typeface="Cambria" pitchFamily="34" charset="-122"/>
                <a:cs typeface="Cambria" pitchFamily="34" charset="-120"/>
              </a:rPr>
              <a:t>Make a good demo</a:t>
            </a:r>
            <a:endParaRPr lang="en-US" sz="2100" dirty="0"/>
          </a:p>
          <a:p>
            <a:pPr marL="0" indent="0" algn="l">
              <a:buNone/>
            </a:pPr>
            <a:r>
              <a:rPr lang="en-US" sz="2100" b="1" dirty="0">
                <a:solidFill>
                  <a:srgbClr val="F8FAFC"/>
                </a:solidFill>
                <a:latin typeface="Cambria" pitchFamily="34" charset="0"/>
                <a:ea typeface="Cambria" pitchFamily="34" charset="-122"/>
                <a:cs typeface="Cambria" pitchFamily="34" charset="-120"/>
              </a:rPr>
              <a:t>even stronger.</a:t>
            </a:r>
            <a:endParaRPr lang="en-US" sz="2100" dirty="0"/>
          </a:p>
        </p:txBody>
      </p:sp>
      <p:sp>
        <p:nvSpPr>
          <p:cNvPr id="33" name="Shape 31"/>
          <p:cNvSpPr/>
          <p:nvPr/>
        </p:nvSpPr>
        <p:spPr>
          <a:xfrm>
            <a:off x="8065008" y="3730752"/>
            <a:ext cx="73152" cy="73152"/>
          </a:xfrm>
          <a:prstGeom prst="ellipse">
            <a:avLst/>
          </a:prstGeom>
          <a:solidFill>
            <a:srgbClr val="2DD4BF"/>
          </a:solidFill>
          <a:ln w="12700">
            <a:solidFill>
              <a:srgbClr val="2DD4BF">
                <a:alpha val="0"/>
              </a:srgbClr>
            </a:solidFill>
            <a:prstDash val="solid"/>
          </a:ln>
        </p:spPr>
      </p:sp>
      <p:sp>
        <p:nvSpPr>
          <p:cNvPr id="34" name="Text 32"/>
          <p:cNvSpPr txBox="1"/>
          <p:nvPr/>
        </p:nvSpPr>
        <p:spPr>
          <a:xfrm>
            <a:off x="8229600" y="3657600"/>
            <a:ext cx="2688336" cy="292608"/>
          </a:xfrm>
          <a:prstGeom prst="rect">
            <a:avLst/>
          </a:prstGeom>
          <a:noFill/>
          <a:ln/>
        </p:spPr>
        <p:txBody>
          <a:bodyPr wrap="square" lIns="0" tIns="0" rIns="0" bIns="0" rtlCol="0" anchor="ctr">
            <a:normAutofit/>
          </a:bodyPr>
          <a:lstStyle/>
          <a:p>
            <a:pPr marL="0" indent="0" algn="l">
              <a:buNone/>
            </a:pPr>
            <a:r>
              <a:rPr lang="en-US" sz="1150" dirty="0">
                <a:solidFill>
                  <a:srgbClr val="DCE5F2"/>
                </a:solidFill>
                <a:latin typeface="Calibri" pitchFamily="34" charset="0"/>
                <a:ea typeface="Calibri" pitchFamily="34" charset="-122"/>
                <a:cs typeface="Calibri" pitchFamily="34" charset="-120"/>
              </a:rPr>
              <a:t>In-app API settings</a:t>
            </a:r>
            <a:endParaRPr lang="en-US" sz="1150" dirty="0"/>
          </a:p>
        </p:txBody>
      </p:sp>
      <p:sp>
        <p:nvSpPr>
          <p:cNvPr id="35" name="Shape 33"/>
          <p:cNvSpPr/>
          <p:nvPr/>
        </p:nvSpPr>
        <p:spPr>
          <a:xfrm>
            <a:off x="8065008" y="4142232"/>
            <a:ext cx="73152" cy="73152"/>
          </a:xfrm>
          <a:prstGeom prst="ellipse">
            <a:avLst/>
          </a:prstGeom>
          <a:solidFill>
            <a:srgbClr val="2DD4BF"/>
          </a:solidFill>
          <a:ln w="12700">
            <a:solidFill>
              <a:srgbClr val="2DD4BF">
                <a:alpha val="0"/>
              </a:srgbClr>
            </a:solidFill>
            <a:prstDash val="solid"/>
          </a:ln>
        </p:spPr>
      </p:sp>
      <p:sp>
        <p:nvSpPr>
          <p:cNvPr id="36" name="Text 34"/>
          <p:cNvSpPr txBox="1"/>
          <p:nvPr/>
        </p:nvSpPr>
        <p:spPr>
          <a:xfrm>
            <a:off x="8229600" y="4069080"/>
            <a:ext cx="2688336" cy="292608"/>
          </a:xfrm>
          <a:prstGeom prst="rect">
            <a:avLst/>
          </a:prstGeom>
          <a:noFill/>
          <a:ln/>
        </p:spPr>
        <p:txBody>
          <a:bodyPr wrap="square" lIns="0" tIns="0" rIns="0" bIns="0" rtlCol="0" anchor="ctr">
            <a:normAutofit/>
          </a:bodyPr>
          <a:lstStyle/>
          <a:p>
            <a:pPr marL="0" indent="0" algn="l">
              <a:buNone/>
            </a:pPr>
            <a:r>
              <a:rPr lang="en-US" sz="1150" dirty="0">
                <a:solidFill>
                  <a:srgbClr val="DCE5F2"/>
                </a:solidFill>
                <a:latin typeface="Calibri" pitchFamily="34" charset="0"/>
                <a:ea typeface="Calibri" pitchFamily="34" charset="-122"/>
                <a:cs typeface="Calibri" pitchFamily="34" charset="-120"/>
              </a:rPr>
              <a:t>Search, stop, and regenerate</a:t>
            </a:r>
            <a:endParaRPr lang="en-US" sz="1150" dirty="0"/>
          </a:p>
        </p:txBody>
      </p:sp>
      <p:sp>
        <p:nvSpPr>
          <p:cNvPr id="37" name="Shape 35"/>
          <p:cNvSpPr/>
          <p:nvPr/>
        </p:nvSpPr>
        <p:spPr>
          <a:xfrm>
            <a:off x="8065008" y="4553712"/>
            <a:ext cx="73152" cy="73152"/>
          </a:xfrm>
          <a:prstGeom prst="ellipse">
            <a:avLst/>
          </a:prstGeom>
          <a:solidFill>
            <a:srgbClr val="2DD4BF"/>
          </a:solidFill>
          <a:ln w="12700">
            <a:solidFill>
              <a:srgbClr val="2DD4BF">
                <a:alpha val="0"/>
              </a:srgbClr>
            </a:solidFill>
            <a:prstDash val="solid"/>
          </a:ln>
        </p:spPr>
      </p:sp>
      <p:sp>
        <p:nvSpPr>
          <p:cNvPr id="38" name="Text 36"/>
          <p:cNvSpPr txBox="1"/>
          <p:nvPr/>
        </p:nvSpPr>
        <p:spPr>
          <a:xfrm>
            <a:off x="8229600" y="4480560"/>
            <a:ext cx="2688336" cy="292608"/>
          </a:xfrm>
          <a:prstGeom prst="rect">
            <a:avLst/>
          </a:prstGeom>
          <a:noFill/>
          <a:ln/>
        </p:spPr>
        <p:txBody>
          <a:bodyPr wrap="square" lIns="0" tIns="0" rIns="0" bIns="0" rtlCol="0" anchor="ctr">
            <a:normAutofit/>
          </a:bodyPr>
          <a:lstStyle/>
          <a:p>
            <a:pPr marL="0" indent="0" algn="l">
              <a:buNone/>
            </a:pPr>
            <a:r>
              <a:rPr lang="en-US" sz="1150" dirty="0">
                <a:solidFill>
                  <a:srgbClr val="DCE5F2"/>
                </a:solidFill>
                <a:latin typeface="Calibri" pitchFamily="34" charset="0"/>
                <a:ea typeface="Calibri" pitchFamily="34" charset="-122"/>
                <a:cs typeface="Calibri" pitchFamily="34" charset="-120"/>
              </a:rPr>
              <a:t>Cloud sync and accounts</a:t>
            </a:r>
            <a:endParaRPr lang="en-US" sz="1150" dirty="0"/>
          </a:p>
        </p:txBody>
      </p:sp>
      <p:sp>
        <p:nvSpPr>
          <p:cNvPr id="39" name="Shape 37"/>
          <p:cNvSpPr/>
          <p:nvPr/>
        </p:nvSpPr>
        <p:spPr>
          <a:xfrm>
            <a:off x="8065008" y="4965192"/>
            <a:ext cx="73152" cy="73152"/>
          </a:xfrm>
          <a:prstGeom prst="ellipse">
            <a:avLst/>
          </a:prstGeom>
          <a:solidFill>
            <a:srgbClr val="2DD4BF"/>
          </a:solidFill>
          <a:ln w="12700">
            <a:solidFill>
              <a:srgbClr val="2DD4BF">
                <a:alpha val="0"/>
              </a:srgbClr>
            </a:solidFill>
            <a:prstDash val="solid"/>
          </a:ln>
        </p:spPr>
      </p:sp>
      <p:sp>
        <p:nvSpPr>
          <p:cNvPr id="40" name="Text 38"/>
          <p:cNvSpPr txBox="1"/>
          <p:nvPr/>
        </p:nvSpPr>
        <p:spPr>
          <a:xfrm>
            <a:off x="8229600" y="4892040"/>
            <a:ext cx="2688336" cy="292608"/>
          </a:xfrm>
          <a:prstGeom prst="rect">
            <a:avLst/>
          </a:prstGeom>
          <a:noFill/>
          <a:ln/>
        </p:spPr>
        <p:txBody>
          <a:bodyPr wrap="square" lIns="0" tIns="0" rIns="0" bIns="0" rtlCol="0" anchor="ctr">
            <a:normAutofit/>
          </a:bodyPr>
          <a:lstStyle/>
          <a:p>
            <a:pPr marL="0" indent="0" algn="l">
              <a:buNone/>
            </a:pPr>
            <a:r>
              <a:rPr lang="en-US" sz="1150" dirty="0">
                <a:solidFill>
                  <a:srgbClr val="DCE5F2"/>
                </a:solidFill>
                <a:latin typeface="Calibri" pitchFamily="34" charset="0"/>
                <a:ea typeface="Calibri" pitchFamily="34" charset="-122"/>
                <a:cs typeface="Calibri" pitchFamily="34" charset="-120"/>
              </a:rPr>
              <a:t>Tests and offline support</a:t>
            </a:r>
            <a:endParaRPr lang="en-US" sz="1150" dirty="0"/>
          </a:p>
        </p:txBody>
      </p:sp>
      <p:sp>
        <p:nvSpPr>
          <p:cNvPr id="41" name="Shape 39"/>
          <p:cNvSpPr/>
          <p:nvPr/>
        </p:nvSpPr>
        <p:spPr>
          <a:xfrm>
            <a:off x="594360" y="5925312"/>
            <a:ext cx="10972800" cy="384048"/>
          </a:xfrm>
          <a:prstGeom prst="roundRect">
            <a:avLst>
              <a:gd name="adj" fmla="val 28571"/>
            </a:avLst>
          </a:prstGeom>
          <a:solidFill>
            <a:srgbClr val="6D5DFB"/>
          </a:solidFill>
          <a:ln w="12700">
            <a:solidFill>
              <a:srgbClr val="6D5DFB">
                <a:alpha val="0"/>
              </a:srgbClr>
            </a:solidFill>
            <a:prstDash val="solid"/>
          </a:ln>
        </p:spPr>
      </p:sp>
      <p:sp>
        <p:nvSpPr>
          <p:cNvPr id="42" name="Text 40"/>
          <p:cNvSpPr txBox="1"/>
          <p:nvPr/>
        </p:nvSpPr>
        <p:spPr>
          <a:xfrm>
            <a:off x="804672" y="6025896"/>
            <a:ext cx="10561320" cy="164592"/>
          </a:xfrm>
          <a:prstGeom prst="rect">
            <a:avLst/>
          </a:prstGeom>
          <a:noFill/>
          <a:ln/>
        </p:spPr>
        <p:txBody>
          <a:bodyPr wrap="square" lIns="0" tIns="0" rIns="0" bIns="0" rtlCol="0" anchor="ctr">
            <a:normAutofit/>
          </a:bodyPr>
          <a:lstStyle/>
          <a:p>
            <a:pPr marL="0" indent="0" algn="ctr">
              <a:buNone/>
            </a:pPr>
            <a:r>
              <a:rPr lang="en-US" sz="1150" b="1" dirty="0">
                <a:solidFill>
                  <a:srgbClr val="F8FAFC"/>
                </a:solidFill>
                <a:latin typeface="Calibri" pitchFamily="34" charset="0"/>
                <a:ea typeface="Calibri" pitchFamily="34" charset="-122"/>
                <a:cs typeface="Calibri" pitchFamily="34" charset="-120"/>
              </a:rPr>
              <a:t>The takeaway: Chiti Code turns a stuck moment into a guided coding conversation.</a:t>
            </a:r>
            <a:endParaRPr lang="en-US" sz="1150" dirty="0"/>
          </a:p>
        </p:txBody>
      </p:sp>
      <p:sp>
        <p:nvSpPr>
          <p:cNvPr id="43" name="Text 41"/>
          <p:cNvSpPr txBox="1"/>
          <p:nvPr/>
        </p:nvSpPr>
        <p:spPr>
          <a:xfrm>
            <a:off x="11228832" y="6473952"/>
            <a:ext cx="365760" cy="164592"/>
          </a:xfrm>
          <a:prstGeom prst="rect">
            <a:avLst/>
          </a:prstGeom>
          <a:noFill/>
          <a:ln/>
        </p:spPr>
        <p:txBody>
          <a:bodyPr wrap="square" lIns="0" tIns="0" rIns="0" bIns="0" rtlCol="0" anchor="ctr">
            <a:normAutofit/>
          </a:bodyPr>
          <a:lstStyle/>
          <a:p>
            <a:pPr marL="0" indent="0" algn="r">
              <a:buNone/>
            </a:pPr>
            <a:r>
              <a:rPr lang="en-US" sz="900" b="1" dirty="0">
                <a:solidFill>
                  <a:srgbClr val="56657D"/>
                </a:solidFill>
                <a:latin typeface="Calibri" pitchFamily="34" charset="0"/>
                <a:ea typeface="Calibri" pitchFamily="34" charset="-122"/>
                <a:cs typeface="Calibri" pitchFamily="34" charset="-120"/>
              </a:rPr>
              <a:t>05</a:t>
            </a:r>
            <a:endParaRPr lang="en-US" sz="900" dirty="0"/>
          </a:p>
        </p:txBody>
      </p:sp>
      <p:sp>
        <p:nvSpPr>
          <p:cNvPr id="44" name="Text 42"/>
          <p:cNvSpPr txBox="1"/>
          <p:nvPr/>
        </p:nvSpPr>
        <p:spPr>
          <a:xfrm>
            <a:off x="566928" y="6473952"/>
            <a:ext cx="2011680" cy="164592"/>
          </a:xfrm>
          <a:prstGeom prst="rect">
            <a:avLst/>
          </a:prstGeom>
          <a:noFill/>
          <a:ln/>
        </p:spPr>
        <p:txBody>
          <a:bodyPr wrap="square" lIns="0" tIns="0" rIns="0" bIns="0" rtlCol="0" anchor="ctr">
            <a:normAutofit/>
          </a:bodyPr>
          <a:lstStyle/>
          <a:p>
            <a:pPr marL="0" indent="0" algn="l">
              <a:buNone/>
            </a:pPr>
            <a:r>
              <a:rPr lang="en-US" sz="800" b="1" kern="0" spc="110" dirty="0">
                <a:solidFill>
                  <a:srgbClr val="56657D"/>
                </a:solidFill>
                <a:latin typeface="Calibri" pitchFamily="34" charset="0"/>
                <a:ea typeface="Calibri" pitchFamily="34" charset="-122"/>
                <a:cs typeface="Calibri" pitchFamily="34" charset="-120"/>
              </a:rPr>
              <a:t>DEMO</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741</Words>
  <Application>Microsoft Office PowerPoint</Application>
  <PresentationFormat>Widescreen</PresentationFormat>
  <Paragraphs>141</Paragraphs>
  <Slides>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vector>
  </TitlesOfParts>
  <Company>Chiti Code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Chiti Code - AI Coding Assistant</dc:title>
  <dc:subject>College demonstration of the Chiti Code Android app</dc:subject>
  <dc:creator>Chiti Code</dc:creator>
  <cp:lastModifiedBy>ravi sharma</cp:lastModifiedBy>
  <cp:revision>2</cp:revision>
  <dcterms:created xsi:type="dcterms:W3CDTF">2026-08-16T09:21:14Z</dcterms:created>
  <dcterms:modified xsi:type="dcterms:W3CDTF">2026-08-16T09:27:15Z</dcterms:modified>
</cp:coreProperties>
</file>